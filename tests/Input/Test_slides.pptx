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7" r:id="rId3"/>
    <p:sldMasterId id="2147483673" r:id="rId4"/>
    <p:sldMasterId id="2147483678" r:id="rId5"/>
    <p:sldMasterId id="2147483691" r:id="rId6"/>
    <p:sldMasterId id="2147483704" r:id="rId7"/>
    <p:sldMasterId id="2147483717" r:id="rId8"/>
  </p:sldMasterIdLst>
  <p:notesMasterIdLst>
    <p:notesMasterId r:id="rId46"/>
  </p:notesMasterIdLst>
  <p:sldIdLst>
    <p:sldId id="29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306" r:id="rId39"/>
    <p:sldId id="303" r:id="rId40"/>
    <p:sldId id="304" r:id="rId41"/>
    <p:sldId id="305" r:id="rId42"/>
    <p:sldId id="302" r:id="rId43"/>
    <p:sldId id="301" r:id="rId44"/>
    <p:sldId id="30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B564715-5FAF-4711-AB4B-EC7A01BE508A}">
          <p14:sldIdLst>
            <p14:sldId id="299"/>
          </p14:sldIdLst>
        </p14:section>
        <p14:section name="Sezione 1" id="{C871233D-C06E-487B-966F-86A6FF538AA7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Sezione 2" id="{6AC5B060-593B-4EE7-9C43-0BAA6B30B4D2}">
          <p14:sldIdLst>
            <p14:sldId id="306"/>
            <p14:sldId id="303"/>
            <p14:sldId id="304"/>
            <p14:sldId id="305"/>
            <p14:sldId id="302"/>
            <p14:sldId id="301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86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6032B-B57F-4FBE-A2D4-65AC690E801A}" type="datetimeFigureOut">
              <a:rPr lang="it-IT" smtClean="0"/>
              <a:t>30/10/2026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9D165-6797-4612-9187-676E0A23FF7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3017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Termine</a:t>
            </a:r>
            <a:r>
              <a:rPr dirty="0"/>
              <a:t>: </a:t>
            </a:r>
            <a:r>
              <a:rPr dirty="0" err="1"/>
              <a:t>ambiente</a:t>
            </a:r>
            <a:r>
              <a:rPr dirty="0"/>
              <a:t> (environment). </a:t>
            </a:r>
            <a:r>
              <a:rPr dirty="0" err="1"/>
              <a:t>Insieme</a:t>
            </a:r>
            <a:r>
              <a:rPr dirty="0"/>
              <a:t> di </a:t>
            </a:r>
            <a:r>
              <a:rPr dirty="0" err="1"/>
              <a:t>coppie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=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ogni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eredita</a:t>
            </a:r>
            <a:r>
              <a:rPr dirty="0"/>
              <a:t> dal padre al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creazione</a:t>
            </a:r>
            <a:r>
              <a:rPr dirty="0"/>
              <a:t>. Il </a:t>
            </a:r>
            <a:r>
              <a:rPr dirty="0" err="1"/>
              <a:t>figlio</a:t>
            </a:r>
            <a:r>
              <a:rPr dirty="0"/>
              <a:t> </a:t>
            </a:r>
            <a:r>
              <a:rPr dirty="0" err="1"/>
              <a:t>riceve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copia</a:t>
            </a:r>
            <a:r>
              <a:rPr dirty="0"/>
              <a:t>: se la </a:t>
            </a:r>
            <a:r>
              <a:rPr dirty="0" err="1"/>
              <a:t>modifica</a:t>
            </a:r>
            <a:r>
              <a:rPr dirty="0"/>
              <a:t>, </a:t>
            </a:r>
            <a:r>
              <a:rPr dirty="0" err="1"/>
              <a:t>il</a:t>
            </a:r>
            <a:r>
              <a:rPr dirty="0"/>
              <a:t> padre non lo </a:t>
            </a:r>
            <a:r>
              <a:rPr dirty="0" err="1"/>
              <a:t>sa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 dire: </a:t>
            </a:r>
            <a:r>
              <a:rPr dirty="0" err="1"/>
              <a:t>nell'esempio</a:t>
            </a:r>
            <a:r>
              <a:rPr dirty="0"/>
              <a:t> bash -c '...' </a:t>
            </a:r>
            <a:r>
              <a:rPr dirty="0" err="1"/>
              <a:t>avvia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nuova</a:t>
            </a:r>
            <a:r>
              <a:rPr dirty="0"/>
              <a:t> bash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esegue</a:t>
            </a:r>
            <a:r>
              <a:rPr dirty="0"/>
              <a:t> la </a:t>
            </a:r>
            <a:r>
              <a:rPr dirty="0" err="1"/>
              <a:t>stringa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apici</a:t>
            </a:r>
            <a:r>
              <a:rPr dirty="0"/>
              <a:t>. La prima </a:t>
            </a:r>
            <a:r>
              <a:rPr dirty="0" err="1"/>
              <a:t>volta</a:t>
            </a:r>
            <a:r>
              <a:rPr dirty="0"/>
              <a:t> LAVORO non è </a:t>
            </a:r>
            <a:r>
              <a:rPr dirty="0" err="1"/>
              <a:t>nell'ambiente</a:t>
            </a:r>
            <a:r>
              <a:rPr dirty="0"/>
              <a:t>,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figlio</a:t>
            </a:r>
            <a:r>
              <a:rPr dirty="0"/>
              <a:t> </a:t>
            </a:r>
            <a:r>
              <a:rPr dirty="0" err="1"/>
              <a:t>vede</a:t>
            </a:r>
            <a:r>
              <a:rPr dirty="0"/>
              <a:t> la </a:t>
            </a:r>
            <a:r>
              <a:rPr dirty="0" err="1"/>
              <a:t>stringa</a:t>
            </a:r>
            <a:r>
              <a:rPr dirty="0"/>
              <a:t> </a:t>
            </a:r>
            <a:r>
              <a:rPr dirty="0" err="1"/>
              <a:t>vuota</a:t>
            </a:r>
            <a:r>
              <a:rPr dirty="0"/>
              <a:t>. </a:t>
            </a:r>
            <a:r>
              <a:rPr dirty="0" err="1"/>
              <a:t>Dopo</a:t>
            </a:r>
            <a:r>
              <a:rPr dirty="0"/>
              <a:t> export la </a:t>
            </a:r>
            <a:r>
              <a:rPr dirty="0" err="1"/>
              <a:t>variabile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copiata</a:t>
            </a:r>
            <a:r>
              <a:rPr dirty="0"/>
              <a:t> </a:t>
            </a:r>
            <a:r>
              <a:rPr dirty="0" err="1"/>
              <a:t>nell'ambiente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figli</a:t>
            </a:r>
            <a:r>
              <a:rPr dirty="0"/>
              <a:t>.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apici</a:t>
            </a:r>
            <a:r>
              <a:rPr dirty="0"/>
              <a:t> </a:t>
            </a:r>
            <a:r>
              <a:rPr dirty="0" err="1"/>
              <a:t>singoli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essenziali</a:t>
            </a:r>
            <a:r>
              <a:rPr dirty="0"/>
              <a:t>: con </a:t>
            </a:r>
            <a:r>
              <a:rPr dirty="0" err="1"/>
              <a:t>quelli</a:t>
            </a:r>
            <a:r>
              <a:rPr dirty="0"/>
              <a:t> </a:t>
            </a:r>
            <a:r>
              <a:rPr dirty="0" err="1"/>
              <a:t>doppi</a:t>
            </a:r>
            <a:r>
              <a:rPr dirty="0"/>
              <a:t> </a:t>
            </a:r>
            <a:r>
              <a:rPr dirty="0" err="1"/>
              <a:t>sarebbe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la shell </a:t>
            </a:r>
            <a:r>
              <a:rPr dirty="0" err="1"/>
              <a:t>corrente</a:t>
            </a:r>
            <a:r>
              <a:rPr dirty="0"/>
              <a:t> a </a:t>
            </a:r>
            <a:r>
              <a:rPr dirty="0" err="1"/>
              <a:t>espandere</a:t>
            </a:r>
            <a:r>
              <a:rPr dirty="0"/>
              <a:t> $LAVORO prima di </a:t>
            </a:r>
            <a:r>
              <a:rPr dirty="0" err="1"/>
              <a:t>avviare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/>
              <a:t>figlio</a:t>
            </a:r>
            <a:r>
              <a:rPr dirty="0"/>
              <a:t>, e </a:t>
            </a:r>
            <a:r>
              <a:rPr dirty="0" err="1"/>
              <a:t>l'esempio</a:t>
            </a:r>
            <a:r>
              <a:rPr dirty="0"/>
              <a:t> non </a:t>
            </a:r>
            <a:r>
              <a:rPr dirty="0" err="1"/>
              <a:t>mostrerebbe</a:t>
            </a:r>
            <a:r>
              <a:rPr dirty="0"/>
              <a:t> la </a:t>
            </a:r>
            <a:r>
              <a:rPr dirty="0" err="1"/>
              <a:t>differenza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Termine</a:t>
            </a:r>
            <a:r>
              <a:rPr dirty="0"/>
              <a:t>: LANG=C date. </a:t>
            </a:r>
            <a:r>
              <a:rPr dirty="0" err="1"/>
              <a:t>Prefisso</a:t>
            </a:r>
            <a:r>
              <a:rPr dirty="0"/>
              <a:t> VAR=</a:t>
            </a:r>
            <a:r>
              <a:rPr dirty="0" err="1"/>
              <a:t>valore</a:t>
            </a:r>
            <a:r>
              <a:rPr dirty="0"/>
              <a:t> </a:t>
            </a:r>
            <a:r>
              <a:rPr dirty="0" err="1"/>
              <a:t>comando</a:t>
            </a:r>
            <a:r>
              <a:rPr dirty="0"/>
              <a:t>: la </a:t>
            </a:r>
            <a:r>
              <a:rPr dirty="0" err="1"/>
              <a:t>variabile</a:t>
            </a:r>
            <a:r>
              <a:rPr dirty="0"/>
              <a:t> </a:t>
            </a:r>
            <a:r>
              <a:rPr dirty="0" err="1"/>
              <a:t>esiste</a:t>
            </a:r>
            <a:r>
              <a:rPr dirty="0"/>
              <a:t> solo per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comando</a:t>
            </a:r>
            <a:r>
              <a:rPr dirty="0"/>
              <a:t>. LANG=C </a:t>
            </a:r>
            <a:r>
              <a:rPr dirty="0" err="1"/>
              <a:t>seleziona</a:t>
            </a:r>
            <a:r>
              <a:rPr dirty="0"/>
              <a:t> la «lingua» </a:t>
            </a:r>
            <a:r>
              <a:rPr dirty="0" err="1"/>
              <a:t>neutra</a:t>
            </a:r>
            <a:r>
              <a:rPr dirty="0"/>
              <a:t>: date </a:t>
            </a:r>
            <a:r>
              <a:rPr dirty="0" err="1"/>
              <a:t>scrive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nomi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giorni</a:t>
            </a:r>
            <a:r>
              <a:rPr dirty="0"/>
              <a:t> in </a:t>
            </a:r>
            <a:r>
              <a:rPr dirty="0" err="1"/>
              <a:t>inglese</a:t>
            </a:r>
            <a:r>
              <a:rPr dirty="0"/>
              <a:t> e non in </a:t>
            </a:r>
            <a:r>
              <a:rPr dirty="0" err="1"/>
              <a:t>italiano</a:t>
            </a:r>
            <a:r>
              <a:rPr dirty="0"/>
              <a:t>. Si </a:t>
            </a:r>
            <a:r>
              <a:rPr dirty="0" err="1"/>
              <a:t>usa</a:t>
            </a:r>
            <a:r>
              <a:rPr dirty="0"/>
              <a:t> per </a:t>
            </a:r>
            <a:r>
              <a:rPr dirty="0" err="1"/>
              <a:t>avere</a:t>
            </a:r>
            <a:r>
              <a:rPr dirty="0"/>
              <a:t> un output </a:t>
            </a:r>
            <a:r>
              <a:rPr dirty="0" err="1"/>
              <a:t>prevedibile</a:t>
            </a:r>
            <a:r>
              <a:rPr dirty="0"/>
              <a:t>, </a:t>
            </a:r>
            <a:r>
              <a:rPr dirty="0" err="1"/>
              <a:t>soprattutto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lo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elabora</a:t>
            </a:r>
            <a:r>
              <a:rPr dirty="0"/>
              <a:t> con </a:t>
            </a:r>
            <a:r>
              <a:rPr dirty="0" err="1"/>
              <a:t>altri</a:t>
            </a:r>
            <a:r>
              <a:rPr dirty="0"/>
              <a:t> </a:t>
            </a:r>
            <a:r>
              <a:rPr dirty="0" err="1"/>
              <a:t>programmi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1705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Vediamo come si collegano tra loro questi metodi. La figura mostra l'ordine in cui possono essere chiamati i metodi del ciclo di vita di un'activity. L'aspetto importante è che un'app Android non funziona da sola: c'è una collaborazione continua tra l'applicazione e il sistema, e bisogna conoscerne le regole. Immaginiamo un'app semplice con una sola activity che si avvia, attende un momento e poi termina. Al lancio Android chiama onCreate, poi onStart e poi onResume; a quel punto l'interfaccia compare sullo schermo e l'utente può interagire. Quando l'activity inizia a chiudersi, Android chiama onPause, poi onStop e infine onDestroy: a quel punto l'activity è completamente terminata.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378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325565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  <a:endParaRPr lang="it-IT" altLang="it-IT" dirty="0" smtClean="0"/>
          </a:p>
        </p:txBody>
      </p:sp>
    </p:spTree>
    <p:extLst>
      <p:ext uri="{BB962C8B-B14F-4D97-AF65-F5344CB8AC3E}">
        <p14:creationId xmlns:p14="http://schemas.microsoft.com/office/powerpoint/2010/main" val="3783927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964630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32556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dirty="0" smtClean="0"/>
              <a:t>Modifica gli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657657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32556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 smtClean="0"/>
              <a:t>Modifica gli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32556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65071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260475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1900237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260475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1900237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4036649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Click to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title</a:t>
            </a:r>
            <a:r>
              <a:rPr lang="it-IT" dirty="0"/>
              <a:t>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1333500"/>
            <a:ext cx="10972800" cy="41148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it-IT" dirty="0"/>
              <a:t>Fare </a:t>
            </a:r>
            <a:r>
              <a:rPr lang="it-IT" altLang="it-IT" dirty="0" err="1"/>
              <a:t>lic</a:t>
            </a:r>
            <a:r>
              <a:rPr lang="it-IT" altLang="it-IT" dirty="0"/>
              <a:t> per modificare gli stili del testo dello schema Fare </a:t>
            </a:r>
            <a:r>
              <a:rPr lang="it-IT" altLang="it-IT" dirty="0" err="1"/>
              <a:t>lic</a:t>
            </a:r>
            <a:r>
              <a:rPr lang="it-IT" altLang="it-IT" dirty="0"/>
              <a:t> per modificare gli stili del testo dello schema Fare </a:t>
            </a:r>
            <a:r>
              <a:rPr lang="it-IT" altLang="it-IT" dirty="0" err="1"/>
              <a:t>lic</a:t>
            </a:r>
            <a:r>
              <a:rPr lang="it-IT" altLang="it-IT" dirty="0"/>
              <a:t> per modificare gli stili del testo dello schema Fare </a:t>
            </a:r>
            <a:r>
              <a:rPr lang="it-IT" altLang="it-IT" dirty="0" err="1"/>
              <a:t>lic</a:t>
            </a:r>
            <a:r>
              <a:rPr lang="it-IT" altLang="it-IT" dirty="0"/>
              <a:t> per modificare gli stili del testo dello schema Fare </a:t>
            </a:r>
            <a:r>
              <a:rPr lang="it-IT" altLang="it-IT" dirty="0" err="1"/>
              <a:t>lic</a:t>
            </a:r>
            <a:r>
              <a:rPr lang="it-IT" altLang="it-IT" dirty="0"/>
              <a:t>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8254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54152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528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11200" y="1333500"/>
            <a:ext cx="11176000" cy="5300382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2325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11200" y="1333500"/>
            <a:ext cx="5486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400800" y="1333500"/>
            <a:ext cx="5486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7855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70965" y="136478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770965" y="200454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354733" y="136478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354733" y="200454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1159933" y="0"/>
            <a:ext cx="10363200" cy="9144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2907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315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23364" y="982943"/>
            <a:ext cx="10363200" cy="14700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accent1"/>
                </a:solidFill>
                <a:latin typeface="+mj-lt"/>
                <a:cs typeface="Trebuchet MS"/>
              </a:defRPr>
            </a:lvl1pPr>
          </a:lstStyle>
          <a:p>
            <a:r>
              <a:rPr lang="it-IT" dirty="0" smtClean="0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23364" y="263114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0" i="0">
                <a:solidFill>
                  <a:schemeClr val="tx1">
                    <a:tint val="75000"/>
                  </a:schemeClr>
                </a:solidFill>
                <a:latin typeface="+mn-lt"/>
                <a:cs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smtClean="0"/>
              <a:t>Fare clic per modificare lo stile del sottotitolo dello schema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07679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it-IT" altLang="it-IT" dirty="0" smtClean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118450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00331" y="215676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accent1"/>
                </a:solidFill>
              </a:defRPr>
            </a:lvl1pPr>
          </a:lstStyle>
          <a:p>
            <a:r>
              <a:rPr lang="it-IT" dirty="0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00331" y="656572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32115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5170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472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109007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59579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63895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0891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006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436255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 smtClean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191183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9463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36231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7C63B74A-F381-4C95-8310-F4E46D040638}" type="datetime1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30/10/2026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E124A6C7-DB70-4B54-92F7-68DDAA22980F}" type="slidenum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‹N›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17120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63590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075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75370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08233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6005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86187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5715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616750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 smtClean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633392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8615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8255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7C63B74A-F381-4C95-8310-F4E46D040638}" type="datetime1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30/10/2026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E124A6C7-DB70-4B54-92F7-68DDAA22980F}" type="slidenum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‹N›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90225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67755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2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337688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42251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02675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49895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359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271945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 smtClean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2231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9057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71202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7C63B74A-F381-4C95-8310-F4E46D040638}" type="datetime1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30/10/2026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E124A6C7-DB70-4B54-92F7-68DDAA22980F}" type="slidenum">
              <a:rPr lang="it-IT" altLang="it-IT" sz="240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‹N›</a:t>
            </a:fld>
            <a:endParaRPr lang="it-IT" altLang="it-IT" sz="240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2680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  <a:endParaRPr lang="it-IT" altLang="it-IT" dirty="0" smtClean="0"/>
          </a:p>
        </p:txBody>
      </p:sp>
    </p:spTree>
    <p:extLst>
      <p:ext uri="{BB962C8B-B14F-4D97-AF65-F5344CB8AC3E}">
        <p14:creationId xmlns:p14="http://schemas.microsoft.com/office/powerpoint/2010/main" val="4177755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32556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  <a:endParaRPr lang="it-IT" altLang="it-IT" dirty="0" smtClean="0"/>
          </a:p>
        </p:txBody>
      </p:sp>
    </p:spTree>
    <p:extLst>
      <p:ext uri="{BB962C8B-B14F-4D97-AF65-F5344CB8AC3E}">
        <p14:creationId xmlns:p14="http://schemas.microsoft.com/office/powerpoint/2010/main" val="3959003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32556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32556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  <a:endParaRPr lang="it-IT" altLang="it-IT" dirty="0" smtClean="0"/>
          </a:p>
        </p:txBody>
      </p:sp>
    </p:spTree>
    <p:extLst>
      <p:ext uri="{BB962C8B-B14F-4D97-AF65-F5344CB8AC3E}">
        <p14:creationId xmlns:p14="http://schemas.microsoft.com/office/powerpoint/2010/main" val="1245251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260475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1900237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260475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1900237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lo stile del titolo</a:t>
            </a:r>
            <a:endParaRPr lang="it-IT" altLang="it-IT" dirty="0" smtClean="0"/>
          </a:p>
        </p:txBody>
      </p:sp>
    </p:spTree>
    <p:extLst>
      <p:ext uri="{BB962C8B-B14F-4D97-AF65-F5344CB8AC3E}">
        <p14:creationId xmlns:p14="http://schemas.microsoft.com/office/powerpoint/2010/main" val="3647974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00331" y="215676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accent1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00331" y="656572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54064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914399"/>
            <a:ext cx="12192000" cy="1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25603" name="Immagine 10" descr="PPT_Informatica-0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423"/>
            <a:ext cx="12192000" cy="7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17" y="6149787"/>
            <a:ext cx="643816" cy="643816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 userDrawn="1"/>
        </p:nvPicPr>
        <p:blipFill rotWithShape="1"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29" b="9369"/>
          <a:stretch/>
        </p:blipFill>
        <p:spPr>
          <a:xfrm>
            <a:off x="6086475" y="1957739"/>
            <a:ext cx="6105525" cy="4115684"/>
          </a:xfrm>
          <a:prstGeom prst="rect">
            <a:avLst/>
          </a:prstGeom>
        </p:spPr>
      </p:pic>
      <p:sp>
        <p:nvSpPr>
          <p:cNvPr id="9" name="Segnaposto piè di pagina 3"/>
          <p:cNvSpPr txBox="1">
            <a:spLocks/>
          </p:cNvSpPr>
          <p:nvPr userDrawn="1"/>
        </p:nvSpPr>
        <p:spPr bwMode="auto">
          <a:xfrm>
            <a:off x="1515036" y="6204995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rPr>
              <a:t>LIM: Laboratorio di Informatica Musicale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rPr>
              <a:t>www.lim.di.unimi.it</a:t>
            </a:r>
            <a:endParaRPr kumimoji="0" lang="it-IT" altLang="it-I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icksand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45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 userDrawn="1"/>
        </p:nvPicPr>
        <p:blipFill rotWithShape="1"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29" b="9369"/>
          <a:stretch/>
        </p:blipFill>
        <p:spPr>
          <a:xfrm>
            <a:off x="6086475" y="2742316"/>
            <a:ext cx="6105525" cy="4115684"/>
          </a:xfrm>
          <a:prstGeom prst="rect">
            <a:avLst/>
          </a:prstGeom>
        </p:spPr>
      </p:pic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591312" y="896467"/>
            <a:ext cx="11600688" cy="1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+mn-cs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333500"/>
            <a:ext cx="11176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smtClean="0"/>
              <a:t>Fare clic per modificare gli stili del testo dello schema</a:t>
            </a:r>
          </a:p>
          <a:p>
            <a:pPr lvl="1"/>
            <a:r>
              <a:rPr lang="it-IT" altLang="it-IT" smtClean="0"/>
              <a:t>Secondo livello</a:t>
            </a:r>
          </a:p>
          <a:p>
            <a:pPr lvl="2"/>
            <a:r>
              <a:rPr lang="it-IT" altLang="it-IT" smtClean="0"/>
              <a:t>Terzo livello</a:t>
            </a:r>
          </a:p>
          <a:p>
            <a:pPr lvl="3"/>
            <a:r>
              <a:rPr lang="it-IT" altLang="it-IT" smtClean="0"/>
              <a:t>Quarto livello</a:t>
            </a:r>
          </a:p>
          <a:p>
            <a:pPr lvl="4"/>
            <a:r>
              <a:rPr lang="it-IT" altLang="it-IT" smtClean="0"/>
              <a:t>Quinto livello</a:t>
            </a:r>
          </a:p>
        </p:txBody>
      </p:sp>
      <p:pic>
        <p:nvPicPr>
          <p:cNvPr id="38917" name="Immagine 10" descr="PPT_Informatica-07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5913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6" y="214536"/>
            <a:ext cx="485327" cy="48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7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itchFamily="-105" charset="0"/>
          <a:ea typeface="ＭＳ Ｐゴシック" pitchFamily="-105" charset="-128"/>
          <a:cs typeface="ＭＳ Ｐゴシック" pitchFamily="-105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42424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424242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424242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rgbClr val="424242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24242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24242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24242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24242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24242"/>
          </a:solidFill>
          <a:latin typeface="+mn-lt"/>
          <a:ea typeface="+mn-ea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29" b="9159"/>
          <a:stretch/>
        </p:blipFill>
        <p:spPr>
          <a:xfrm>
            <a:off x="6096000" y="1956199"/>
            <a:ext cx="6105525" cy="4125209"/>
          </a:xfrm>
          <a:prstGeom prst="rect">
            <a:avLst/>
          </a:prstGeom>
        </p:spPr>
      </p:pic>
      <p:pic>
        <p:nvPicPr>
          <p:cNvPr id="13314" name="Immagine 8" descr="PPT_Informatica-0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81408"/>
            <a:ext cx="12191999" cy="78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17" y="6149787"/>
            <a:ext cx="643816" cy="64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3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906464"/>
            <a:ext cx="12192000" cy="7937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25603" name="Immagine 10" descr="PPT_Informatica-03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1100"/>
            <a:ext cx="12192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54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906464"/>
            <a:ext cx="12192000" cy="7937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25603" name="Immagine 10" descr="PPT_Informatica-03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1100"/>
            <a:ext cx="12192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33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906464"/>
            <a:ext cx="12192000" cy="7937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25603" name="Immagine 10" descr="PPT_Informatica-03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1100"/>
            <a:ext cx="12192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12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0" y="914399"/>
            <a:ext cx="12192000" cy="1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Arial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25603" name="Immagine 10" descr="PPT_Informatica-0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423"/>
            <a:ext cx="12192000" cy="7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9933" y="0"/>
            <a:ext cx="1036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 smtClean="0"/>
              <a:t>Fare clic per modificare stile del titolo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17" y="6149787"/>
            <a:ext cx="643816" cy="643816"/>
          </a:xfrm>
          <a:prstGeom prst="rect">
            <a:avLst/>
          </a:prstGeom>
        </p:spPr>
      </p:pic>
      <p:sp>
        <p:nvSpPr>
          <p:cNvPr id="9" name="Segnaposto piè di pagina 3"/>
          <p:cNvSpPr txBox="1">
            <a:spLocks/>
          </p:cNvSpPr>
          <p:nvPr/>
        </p:nvSpPr>
        <p:spPr bwMode="auto">
          <a:xfrm>
            <a:off x="1515036" y="6204995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ＭＳ Ｐゴシック" panose="020B0600070205080204" pitchFamily="34" charset="-128"/>
                <a:cs typeface="+mn-cs"/>
              </a:rPr>
              <a:t>LIM: Laboratorio di Informatica Musicale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ＭＳ Ｐゴシック" panose="020B0600070205080204" pitchFamily="34" charset="-128"/>
                <a:cs typeface="+mn-cs"/>
              </a:rPr>
              <a:t>www.lim.di.unimi.it</a:t>
            </a:r>
            <a:endParaRPr kumimoji="0" lang="it-IT" altLang="it-I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22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yariel.unimi.it/course/view.php?id=13564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DamianGordon1/a-history-of-microsoft-windows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s://youtube.com/playlist?list=PLnEcguYneyFmwz3u-tPwk-VO7FGGkz_p5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www.youtube.com/watch?v=BKorP55Aqvg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massimo_banzi_how_arduino_is_open_sourcing_imagination?language=it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it-IT" sz="1800" dirty="0">
                <a:latin typeface="+mn-lt"/>
              </a:rPr>
              <a:t>Giorgio Presti</a:t>
            </a:r>
            <a:br>
              <a:rPr lang="it-IT" sz="1800" dirty="0">
                <a:latin typeface="+mn-lt"/>
              </a:rPr>
            </a:br>
            <a:r>
              <a:rPr lang="it-IT" sz="1800" dirty="0" err="1" smtClean="0">
                <a:latin typeface="+mn-lt"/>
              </a:rPr>
              <a:t>Researcher</a:t>
            </a:r>
            <a:r>
              <a:rPr lang="it-IT" sz="1800" dirty="0" smtClean="0">
                <a:latin typeface="+mn-lt"/>
              </a:rPr>
              <a:t> </a:t>
            </a:r>
            <a:r>
              <a:rPr lang="it-IT" sz="1800" dirty="0">
                <a:latin typeface="+mn-lt"/>
              </a:rPr>
              <a:t>@ LIM</a:t>
            </a:r>
          </a:p>
        </p:txBody>
      </p:sp>
      <p:sp>
        <p:nvSpPr>
          <p:cNvPr id="5" name="Sottotitolo 4"/>
          <p:cNvSpPr>
            <a:spLocks noGrp="1"/>
          </p:cNvSpPr>
          <p:nvPr>
            <p:ph type="subTitle"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it-IT" sz="2800" b="1" i="0" dirty="0">
                <a:latin typeface="+mj-lt"/>
              </a:rPr>
              <a:t>Intelligenza Artificiale per la Musica</a:t>
            </a:r>
            <a:endParaRPr lang="en-US" sz="2800" b="1" i="0" dirty="0" smtClean="0">
              <a:latin typeface="+mj-lt"/>
            </a:endParaRPr>
          </a:p>
          <a:p>
            <a:r>
              <a:rPr lang="en-US" i="0" dirty="0" smtClean="0">
                <a:latin typeface="+mj-lt"/>
              </a:rPr>
              <a:t>Computational </a:t>
            </a:r>
            <a:r>
              <a:rPr lang="en-US" i="0" dirty="0">
                <a:latin typeface="+mj-lt"/>
              </a:rPr>
              <a:t>Creativity for Music, </a:t>
            </a:r>
            <a:r>
              <a:rPr lang="en-US" i="0" dirty="0" smtClean="0">
                <a:latin typeface="+mj-lt"/>
              </a:rPr>
              <a:t>2026</a:t>
            </a:r>
            <a:endParaRPr lang="en-US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7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334964"/>
            <a:ext cx="8675688" cy="503237"/>
          </a:xfrm>
        </p:spPr>
        <p:txBody>
          <a:bodyPr vert="horz" lIns="90000" tIns="46800" rIns="90000" bIns="46800" rtlCol="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3200" b="1" dirty="0">
                <a:latin typeface="Calibri" panose="020F0502020204030204" pitchFamily="34" charset="0"/>
              </a:rPr>
              <a:t>Aspetti generali del file system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3263" y="990601"/>
            <a:ext cx="8107362" cy="5029201"/>
          </a:xfrm>
        </p:spPr>
        <p:txBody>
          <a:bodyPr vert="horz" lIns="90000" tIns="45000" rIns="90000" bIns="45000" rtlCol="0"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it-IT" sz="2700" dirty="0">
                <a:latin typeface="Calibri" panose="020F0502020204030204" pitchFamily="34" charset="0"/>
              </a:rPr>
              <a:t>Moltissima documentazione e tutorial in rete, soprattutto per le distribuzioni principali</a:t>
            </a:r>
          </a:p>
          <a:p>
            <a:pPr lvl="1">
              <a:spcBef>
                <a:spcPts val="600"/>
              </a:spcBef>
            </a:pPr>
            <a:r>
              <a:rPr lang="it-IT" sz="2400" i="1" dirty="0">
                <a:latin typeface="Calibri" panose="020F0502020204030204" pitchFamily="34" charset="0"/>
              </a:rPr>
              <a:t>https://help.ubuntu.com/</a:t>
            </a:r>
            <a:r>
              <a:rPr lang="it-IT" sz="2400" dirty="0">
                <a:latin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it-IT" sz="2400" i="1" dirty="0">
                <a:latin typeface="Calibri" panose="020F0502020204030204" pitchFamily="34" charset="0"/>
              </a:rPr>
              <a:t>https://docs.fedoraproject.org/</a:t>
            </a:r>
          </a:p>
          <a:p>
            <a:pPr>
              <a:spcBef>
                <a:spcPts val="600"/>
              </a:spcBef>
            </a:pPr>
            <a:endParaRPr lang="it-IT" dirty="0"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Diversi file system sono utilizzati a seconda del tipo di device (hard disk, cd, ecc) e del sistema operativo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FAT32 (Windows 95, 98, …)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NTFS (Windows XP e seguenti)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Ext (Linux)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ISO 9660 (CD)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152400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dirty="0"/>
          </a:p>
        </p:txBody>
      </p:sp>
      <p:pic>
        <p:nvPicPr>
          <p:cNvPr id="5" name="Picture 2" descr="sommario.gif (180×177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894" y="4957763"/>
            <a:ext cx="1244707" cy="122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334964"/>
            <a:ext cx="8675688" cy="503237"/>
          </a:xfrm>
        </p:spPr>
        <p:txBody>
          <a:bodyPr vert="horz" lIns="90000" tIns="46800" rIns="90000" bIns="46800" rtlCol="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3200" b="1" dirty="0">
                <a:latin typeface="Calibri" panose="020F0502020204030204" pitchFamily="34" charset="0"/>
              </a:rPr>
              <a:t>Aspetti generali del file system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3263" y="990601"/>
            <a:ext cx="8107362" cy="5029201"/>
          </a:xfrm>
        </p:spPr>
        <p:txBody>
          <a:bodyPr vert="horz" lIns="90000" tIns="45000" rIns="90000" bIns="45000" rtlCol="0"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Aspetti principali gestiti dai file system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Nomi dei file</a:t>
            </a:r>
          </a:p>
          <a:p>
            <a:pPr lvl="2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Identificare una locazione all’interno del supporto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Directory</a:t>
            </a:r>
          </a:p>
          <a:p>
            <a:pPr lvl="2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Come raggruppare diversi file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Metadati</a:t>
            </a:r>
          </a:p>
          <a:p>
            <a:pPr lvl="2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Timestamp di creazione, modifica, tipo di file, creatore, etc.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Controllo dell’accesso</a:t>
            </a:r>
          </a:p>
          <a:p>
            <a:pPr lvl="2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Accesso ai dati regolato in base all’utente e al programma </a:t>
            </a:r>
          </a:p>
          <a:p>
            <a:pPr lvl="1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Integrità</a:t>
            </a:r>
          </a:p>
          <a:p>
            <a:pPr lvl="2">
              <a:spcBef>
                <a:spcPts val="600"/>
              </a:spcBef>
            </a:pPr>
            <a:r>
              <a:rPr lang="it-IT" dirty="0">
                <a:latin typeface="Calibri" panose="020F0502020204030204" pitchFamily="34" charset="0"/>
              </a:rPr>
              <a:t>Mantenere i dati leggibili in caso di eventi imprevisti (es. crash)</a:t>
            </a:r>
          </a:p>
          <a:p>
            <a:pPr lvl="1">
              <a:spcBef>
                <a:spcPts val="600"/>
              </a:spcBef>
            </a:pPr>
            <a:endParaRPr lang="it-IT" dirty="0">
              <a:latin typeface="Calibri" panose="020F0502020204030204" pitchFamily="34" charset="0"/>
            </a:endParaRP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152400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334964"/>
            <a:ext cx="8675688" cy="503237"/>
          </a:xfrm>
        </p:spPr>
        <p:txBody>
          <a:bodyPr vert="horz" lIns="90000" tIns="46800" rIns="90000" bIns="46800" rtlCol="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3000" b="1" dirty="0">
                <a:latin typeface="Calibri" panose="020F0502020204030204" pitchFamily="34" charset="0"/>
              </a:rPr>
              <a:t>Equivalenze tra APT e DNF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42319" y="1150000"/>
          <a:ext cx="8107360" cy="4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lang="it-IT" sz="2200" b="1" dirty="0">
                          <a:latin typeface="Calibri" panose="020F0502020204030204" pitchFamily="34" charset="0"/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b="1" dirty="0">
                          <a:latin typeface="Calibri" panose="020F0502020204030204" pitchFamily="34" charset="0"/>
                        </a:rPr>
                        <a:t>APT (Debian/Ubuntu)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200" b="1" dirty="0">
                          <a:latin typeface="Calibri" panose="020F0502020204030204" pitchFamily="34" charset="0"/>
                        </a:rPr>
                        <a:t>DNF (Fedora/RHEL)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Aggiorna l’elenco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check-update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Aggiorna tutto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upgrade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Installa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install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install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Rimuove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remove &lt;pkg&gt;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remove &lt;pkg&gt;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Dipendenze inutili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autoremove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autoremove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Cerca / informazioni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search</a:t>
                      </a:r>
                      <a:r>
                        <a:rPr lang="it-IT" sz="2000" dirty="0"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it-IT" sz="2000" i="1" dirty="0">
                          <a:latin typeface="Calibri" panose="020F0502020204030204" pitchFamily="34" charset="0"/>
                        </a:rPr>
                        <a:t>apt 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search</a:t>
                      </a:r>
                      <a:r>
                        <a:rPr lang="it-IT" sz="2000" dirty="0"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it-IT" sz="2000" i="1" dirty="0">
                          <a:latin typeface="Calibri" panose="020F0502020204030204" pitchFamily="34" charset="0"/>
                        </a:rPr>
                        <a:t>dnf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it-IT" sz="2000" b="1" dirty="0">
                          <a:latin typeface="Calibri" panose="020F0502020204030204" pitchFamily="34" charset="0"/>
                        </a:rPr>
                        <a:t>File singolo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dpkg -i file.deb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i="1" dirty="0">
                          <a:latin typeface="Calibri" panose="020F0502020204030204" pitchFamily="34" charset="0"/>
                        </a:rPr>
                        <a:t>rpm -i file.rpm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14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/>
          <a:p>
            <a:pPr>
              <a:spcBef>
                <a:spcPts val="450"/>
              </a:spcBef>
            </a:pPr>
            <a:r>
              <a:rPr lang="it-IT" sz="2250" dirty="0">
                <a:latin typeface="Calibri" panose="020F0502020204030204" pitchFamily="34" charset="0"/>
              </a:rPr>
              <a:t>Una variabile è visibile solo alla shell/script che la definisce</a:t>
            </a:r>
          </a:p>
          <a:p>
            <a:pPr lvl="1">
              <a:spcBef>
                <a:spcPts val="450"/>
              </a:spcBef>
            </a:pPr>
            <a:r>
              <a:rPr lang="it-IT" sz="2025" dirty="0">
                <a:latin typeface="Consolas" panose="020B0609020204030204" pitchFamily="49" charset="0"/>
              </a:rPr>
              <a:t>export</a:t>
            </a:r>
            <a:r>
              <a:rPr lang="it-IT" sz="2025" dirty="0">
                <a:latin typeface="Calibri" panose="020F0502020204030204" pitchFamily="34" charset="0"/>
              </a:rPr>
              <a:t> la rende visibile ai processi figli (ambiente)</a:t>
            </a:r>
          </a:p>
          <a:p>
            <a:pPr>
              <a:spcBef>
                <a:spcPts val="450"/>
              </a:spcBef>
            </a:pPr>
            <a:r>
              <a:rPr lang="it-IT" sz="2250" dirty="0">
                <a:latin typeface="Consolas" panose="020B0609020204030204" pitchFamily="49" charset="0"/>
              </a:rPr>
              <a:t>env</a:t>
            </a:r>
            <a:r>
              <a:rPr lang="it-IT" sz="2250" dirty="0">
                <a:latin typeface="Calibri" panose="020F0502020204030204" pitchFamily="34" charset="0"/>
              </a:rPr>
              <a:t> o </a:t>
            </a:r>
            <a:r>
              <a:rPr lang="it-IT" sz="2250" dirty="0">
                <a:latin typeface="Consolas" panose="020B0609020204030204" pitchFamily="49" charset="0"/>
              </a:rPr>
              <a:t>printenv</a:t>
            </a:r>
            <a:r>
              <a:rPr lang="it-IT" sz="2250" dirty="0">
                <a:latin typeface="Calibri" panose="020F0502020204030204" pitchFamily="34" charset="0"/>
              </a:rPr>
              <a:t> elencano l’ambiente: </a:t>
            </a:r>
            <a:r>
              <a:rPr lang="it-IT" sz="2250" dirty="0">
                <a:latin typeface="Consolas" panose="020B0609020204030204" pitchFamily="49" charset="0"/>
              </a:rPr>
              <a:t>HOME</a:t>
            </a:r>
            <a:r>
              <a:rPr lang="it-IT" sz="2250" dirty="0">
                <a:latin typeface="Calibri" panose="020F0502020204030204" pitchFamily="34" charset="0"/>
              </a:rPr>
              <a:t>, </a:t>
            </a:r>
            <a:r>
              <a:rPr lang="it-IT" sz="2250" dirty="0">
                <a:latin typeface="Consolas" panose="020B0609020204030204" pitchFamily="49" charset="0"/>
              </a:rPr>
              <a:t>USER</a:t>
            </a:r>
            <a:r>
              <a:rPr lang="it-IT" sz="2250" dirty="0">
                <a:latin typeface="Calibri" panose="020F0502020204030204" pitchFamily="34" charset="0"/>
              </a:rPr>
              <a:t>, </a:t>
            </a:r>
            <a:r>
              <a:rPr lang="it-IT" sz="2250" dirty="0">
                <a:latin typeface="Consolas" panose="020B0609020204030204" pitchFamily="49" charset="0"/>
              </a:rPr>
              <a:t>PATH</a:t>
            </a:r>
            <a:r>
              <a:rPr lang="it-IT" sz="2250" dirty="0">
                <a:latin typeface="Calibri" panose="020F0502020204030204" pitchFamily="34" charset="0"/>
              </a:rPr>
              <a:t>, </a:t>
            </a:r>
            <a:r>
              <a:rPr lang="it-IT" sz="2250" dirty="0">
                <a:latin typeface="Consolas" panose="020B0609020204030204" pitchFamily="49" charset="0"/>
              </a:rPr>
              <a:t>LANG</a:t>
            </a:r>
            <a:r>
              <a:rPr lang="it-IT" sz="2250" dirty="0">
                <a:latin typeface="Calibri" panose="020F0502020204030204" pitchFamily="34" charset="0"/>
              </a:rPr>
              <a:t>…</a:t>
            </a:r>
          </a:p>
          <a:p>
            <a:pPr>
              <a:spcBef>
                <a:spcPts val="450"/>
              </a:spcBef>
            </a:pPr>
            <a:r>
              <a:rPr lang="it-IT" sz="2250" dirty="0">
                <a:latin typeface="Consolas" panose="020B0609020204030204" pitchFamily="49" charset="0"/>
              </a:rPr>
              <a:t>VAR=valore comando</a:t>
            </a:r>
            <a:r>
              <a:rPr lang="it-IT" sz="2250" dirty="0">
                <a:latin typeface="Calibri" panose="020F0502020204030204" pitchFamily="34" charset="0"/>
              </a:rPr>
              <a:t> la imposta solo per quel comando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250" b="1" dirty="0">
                <a:latin typeface="Calibri" panose="020F0502020204030204" pitchFamily="34" charset="0"/>
              </a:rPr>
              <a:t>Variabili (2/2): ambiente ed export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 dirty="0"/>
          </a:p>
        </p:txBody>
      </p:sp>
      <p:sp>
        <p:nvSpPr>
          <p:cNvPr id="30723" name="Codice"/>
          <p:cNvSpPr txBox="1"/>
          <p:nvPr/>
        </p:nvSpPr>
        <p:spPr>
          <a:xfrm>
            <a:off x="2393951" y="4253317"/>
            <a:ext cx="4942379" cy="101566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202020"/>
                </a:solidFill>
                <a:latin typeface="Consolas"/>
              </a:rPr>
              <a:t>LAVORO=/tmp/prova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bash -c 'echo "[$LAVORO]"'     </a:t>
            </a:r>
            <a:r>
              <a:rPr sz="1200">
                <a:solidFill>
                  <a:srgbClr val="2E7D32"/>
                </a:solidFill>
                <a:latin typeface="Consolas"/>
              </a:rPr>
              <a:t># []  (non esportata)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export LAVORO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bash -c 'echo "[$LAVORO]"'     </a:t>
            </a:r>
            <a:r>
              <a:rPr sz="1200">
                <a:solidFill>
                  <a:srgbClr val="2E7D32"/>
                </a:solidFill>
                <a:latin typeface="Consolas"/>
              </a:rPr>
              <a:t># [/tmp/prova]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LANG=C date                    </a:t>
            </a:r>
            <a:r>
              <a:rPr sz="1200">
                <a:solidFill>
                  <a:srgbClr val="2E7D32"/>
                </a:solidFill>
                <a:latin typeface="Consolas"/>
              </a:rPr>
              <a:t># solo per questo comando</a:t>
            </a:r>
          </a:p>
        </p:txBody>
      </p:sp>
    </p:spTree>
    <p:extLst>
      <p:ext uri="{BB962C8B-B14F-4D97-AF65-F5344CB8AC3E}">
        <p14:creationId xmlns:p14="http://schemas.microsoft.com/office/powerpoint/2010/main" val="173492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it-IT" sz="1800" dirty="0">
                <a:latin typeface="Calibri" panose="020F0502020204030204" pitchFamily="34" charset="0"/>
              </a:rPr>
              <a:t>Materiale disponibile su </a:t>
            </a:r>
            <a:r>
              <a:rPr lang="it-IT" sz="1800" dirty="0" err="1">
                <a:latin typeface="Calibri" panose="020F0502020204030204" pitchFamily="34" charset="0"/>
              </a:rPr>
              <a:t>myAriel</a:t>
            </a:r>
            <a:r>
              <a:rPr lang="it-IT" sz="1800" dirty="0">
                <a:latin typeface="Calibri" panose="020F0502020204030204" pitchFamily="34" charset="0"/>
              </a:rPr>
              <a:t>: </a:t>
            </a:r>
            <a:r>
              <a:rPr lang="it-IT" sz="1800" dirty="0">
                <a:latin typeface="Calibri" panose="020F0502020204030204" pitchFamily="34" charset="0"/>
                <a:hlinkClick r:id="rId2"/>
              </a:rPr>
              <a:t>https://myariel.unimi.it/course/view.php?id=13564</a:t>
            </a:r>
            <a:endParaRPr lang="it-IT" sz="18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it-IT" sz="1800" dirty="0">
                <a:latin typeface="Calibri" panose="020F0502020204030204" pitchFamily="34" charset="0"/>
              </a:rPr>
              <a:t>Siamo in una fase di transizione, l’anno scorso teneva il laboratorio il prof </a:t>
            </a:r>
            <a:r>
              <a:rPr lang="it-IT" sz="1800" dirty="0" err="1">
                <a:latin typeface="Calibri" panose="020F0502020204030204" pitchFamily="34" charset="0"/>
              </a:rPr>
              <a:t>Donida</a:t>
            </a:r>
            <a:r>
              <a:rPr lang="it-IT" sz="1800" dirty="0">
                <a:latin typeface="Calibri" panose="020F0502020204030204" pitchFamily="34" charset="0"/>
              </a:rPr>
              <a:t> </a:t>
            </a:r>
            <a:r>
              <a:rPr lang="it-IT" sz="1800" dirty="0" err="1">
                <a:latin typeface="Calibri" panose="020F0502020204030204" pitchFamily="34" charset="0"/>
              </a:rPr>
              <a:t>Labati</a:t>
            </a:r>
            <a:r>
              <a:rPr lang="it-IT" sz="1800" dirty="0">
                <a:latin typeface="Calibri" panose="020F0502020204030204" pitchFamily="34" charset="0"/>
              </a:rPr>
              <a:t>, quindi potreste trovare ancora materiale suo (per chi ha seguito con lui).</a:t>
            </a: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it-IT" sz="1800" dirty="0">
                <a:latin typeface="Calibri" panose="020F0502020204030204" pitchFamily="34" charset="0"/>
              </a:rPr>
              <a:t>Le mie slide sono parzialmente basate sulle sue, quindi grazie Ruggero &lt;3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endParaRPr lang="it-IT" sz="1800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sz="2400" b="1" dirty="0">
                <a:latin typeface="Calibri" panose="020F0502020204030204" pitchFamily="34" charset="0"/>
              </a:rPr>
              <a:t>Materiale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02B75-5DA3-5E7E-9C5F-44FA1D94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7105" y="3479349"/>
            <a:ext cx="3678785" cy="1766546"/>
          </a:xfrm>
          <a:prstGeom prst="rect">
            <a:avLst/>
          </a:prstGeom>
        </p:spPr>
      </p:pic>
      <p:grpSp>
        <p:nvGrpSpPr>
          <p:cNvPr id="6" name="Gruppo 5"/>
          <p:cNvGrpSpPr/>
          <p:nvPr/>
        </p:nvGrpSpPr>
        <p:grpSpPr>
          <a:xfrm>
            <a:off x="4935072" y="3401909"/>
            <a:ext cx="2950075" cy="2008414"/>
            <a:chOff x="4548094" y="3392878"/>
            <a:chExt cx="3933433" cy="2677885"/>
          </a:xfrm>
        </p:grpSpPr>
        <p:cxnSp>
          <p:nvCxnSpPr>
            <p:cNvPr id="5" name="Connettore diritto 4"/>
            <p:cNvCxnSpPr/>
            <p:nvPr/>
          </p:nvCxnSpPr>
          <p:spPr>
            <a:xfrm flipV="1">
              <a:off x="7053943" y="5010539"/>
              <a:ext cx="1427584" cy="522514"/>
            </a:xfrm>
            <a:prstGeom prst="line">
              <a:avLst/>
            </a:prstGeom>
            <a:ln w="76200">
              <a:solidFill>
                <a:schemeClr val="accent2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CommunistBugs - Discord Emoji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8094" y="3392878"/>
              <a:ext cx="2677884" cy="2677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589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51424"/>
            <a:ext cx="6743700" cy="3169613"/>
          </a:xfrm>
        </p:spPr>
        <p:txBody>
          <a:bodyPr vert="horz" lIns="67500" tIns="33750" rIns="67500" bIns="33750" numCol="2"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24 settembre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01 ottobre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08 ottobre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strike="sngStrike" dirty="0">
                <a:latin typeface="Calibri" panose="020F0502020204030204" pitchFamily="34" charset="0"/>
              </a:rPr>
              <a:t>15 ottobre 2026 </a:t>
            </a:r>
            <a:r>
              <a:rPr lang="it-IT" sz="1650" dirty="0">
                <a:latin typeface="Calibri" panose="020F0502020204030204" pitchFamily="34" charset="0"/>
              </a:rPr>
              <a:t>– SOSPESA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22 ottobre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29 ottobre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strike="sngStrike" dirty="0">
                <a:latin typeface="Calibri" panose="020F0502020204030204" pitchFamily="34" charset="0"/>
              </a:rPr>
              <a:t>05 novembre 2026 </a:t>
            </a:r>
            <a:r>
              <a:rPr lang="it-IT" sz="1650" dirty="0">
                <a:latin typeface="Calibri" panose="020F0502020204030204" pitchFamily="34" charset="0"/>
              </a:rPr>
              <a:t>– SOSPESA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12 novembre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19 novembre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26 novembre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03 dicembre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10 dicembre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17 dicembre 2026</a:t>
            </a:r>
          </a:p>
          <a:p>
            <a:pPr marL="385763" indent="-257175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it-IT" sz="1650" dirty="0">
                <a:latin typeface="Calibri" panose="020F0502020204030204" pitchFamily="34" charset="0"/>
              </a:rPr>
              <a:t>07 gennaio 2027 (se necessario)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sz="2400" b="1" dirty="0">
                <a:latin typeface="Calibri" panose="020F0502020204030204" pitchFamily="34" charset="0"/>
              </a:rPr>
              <a:t>Calendario delle lezioni</a:t>
            </a:r>
          </a:p>
        </p:txBody>
      </p:sp>
      <p:pic>
        <p:nvPicPr>
          <p:cNvPr id="5" name="Picture 2" descr="http://blogs.vmware.com/vmworld/files/2016/08/Working-Schedu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974" y="2340815"/>
            <a:ext cx="1527888" cy="15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88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marL="0" indent="0">
              <a:buNone/>
            </a:pPr>
            <a:r>
              <a:rPr lang="it-IT" sz="2250" dirty="0">
                <a:latin typeface="Calibri" panose="020F0502020204030204" pitchFamily="34" charset="0"/>
              </a:rPr>
              <a:t>Le funzionalità sono suddivise in server specializzati (file server, </a:t>
            </a:r>
            <a:r>
              <a:rPr lang="it-IT" sz="2250" dirty="0" err="1">
                <a:latin typeface="Calibri" panose="020F0502020204030204" pitchFamily="34" charset="0"/>
              </a:rPr>
              <a:t>process</a:t>
            </a:r>
            <a:r>
              <a:rPr lang="it-IT" sz="2250" dirty="0">
                <a:latin typeface="Calibri" panose="020F0502020204030204" pitchFamily="34" charset="0"/>
              </a:rPr>
              <a:t> server, ecc.) che girano come processi separati; i client richiedono servizi tramite scambio di messaggi. Spesso il </a:t>
            </a:r>
            <a:r>
              <a:rPr lang="it-IT" sz="2250" dirty="0" err="1">
                <a:latin typeface="Calibri" panose="020F0502020204030204" pitchFamily="34" charset="0"/>
              </a:rPr>
              <a:t>kernel</a:t>
            </a:r>
            <a:r>
              <a:rPr lang="it-IT" sz="2250" dirty="0">
                <a:latin typeface="Calibri" panose="020F0502020204030204" pitchFamily="34" charset="0"/>
              </a:rPr>
              <a:t> stesso è minimale, in stile </a:t>
            </a:r>
            <a:r>
              <a:rPr lang="it-IT" sz="2250" dirty="0" err="1">
                <a:latin typeface="Calibri" panose="020F0502020204030204" pitchFamily="34" charset="0"/>
              </a:rPr>
              <a:t>microkernel</a:t>
            </a:r>
            <a:r>
              <a:rPr lang="it-IT" sz="2250" dirty="0">
                <a:latin typeface="Calibri" panose="020F0502020204030204" pitchFamily="34" charset="0"/>
              </a:rPr>
              <a:t>, e si occupa principalmente di instradare le comunicazioni.</a:t>
            </a:r>
          </a:p>
          <a:p>
            <a:r>
              <a:rPr lang="it-IT" sz="1950" b="1" dirty="0">
                <a:latin typeface="Calibri" panose="020F0502020204030204" pitchFamily="34" charset="0"/>
              </a:rPr>
              <a:t>Vantaggi</a:t>
            </a:r>
            <a:r>
              <a:rPr lang="it-IT" sz="1950" dirty="0">
                <a:latin typeface="Calibri" panose="020F0502020204030204" pitchFamily="34" charset="0"/>
              </a:rPr>
              <a:t>: architettura naturalmente distribuibile su rete (i server possono risiedere su macchine diverse), estremamente flessibile e scalabile.</a:t>
            </a:r>
          </a:p>
          <a:p>
            <a:r>
              <a:rPr lang="it-IT" sz="1950" b="1" dirty="0">
                <a:latin typeface="Calibri" panose="020F0502020204030204" pitchFamily="34" charset="0"/>
              </a:rPr>
              <a:t>Svantaggi</a:t>
            </a:r>
            <a:r>
              <a:rPr lang="it-IT" sz="1950" dirty="0">
                <a:latin typeface="Calibri" panose="020F0502020204030204" pitchFamily="34" charset="0"/>
              </a:rPr>
              <a:t>: </a:t>
            </a:r>
            <a:r>
              <a:rPr lang="it-IT" sz="1950" dirty="0" err="1">
                <a:latin typeface="Calibri" panose="020F0502020204030204" pitchFamily="34" charset="0"/>
              </a:rPr>
              <a:t>overhead</a:t>
            </a:r>
            <a:r>
              <a:rPr lang="it-IT" sz="1950" dirty="0">
                <a:latin typeface="Calibri" panose="020F0502020204030204" pitchFamily="34" charset="0"/>
              </a:rPr>
              <a:t> di comunicazione tra client e server, complessità nella gestione dell'affidabilità della rete/IPC.</a:t>
            </a:r>
          </a:p>
          <a:p>
            <a:r>
              <a:rPr lang="it-IT" sz="1950" b="1" dirty="0">
                <a:latin typeface="Calibri" panose="020F0502020204030204" pitchFamily="34" charset="0"/>
              </a:rPr>
              <a:t>Esempio</a:t>
            </a:r>
            <a:r>
              <a:rPr lang="it-IT" sz="1950" dirty="0">
                <a:latin typeface="Calibri" panose="020F0502020204030204" pitchFamily="34" charset="0"/>
              </a:rPr>
              <a:t>: sistemi distribuiti come </a:t>
            </a:r>
            <a:r>
              <a:rPr lang="it-IT" sz="1950" dirty="0" err="1">
                <a:latin typeface="Calibri" panose="020F0502020204030204" pitchFamily="34" charset="0"/>
              </a:rPr>
              <a:t>Amoeba</a:t>
            </a:r>
            <a:r>
              <a:rPr lang="it-IT" sz="1950" dirty="0">
                <a:latin typeface="Calibri" panose="020F0502020204030204" pitchFamily="34" charset="0"/>
              </a:rPr>
              <a:t>; concettualmente presente anche in parte dell'architettura di Windows NT (sottosistemi come processi server).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sz="2400" b="1" dirty="0">
                <a:latin typeface="Calibri" panose="020F0502020204030204" pitchFamily="34" charset="0"/>
              </a:rPr>
              <a:t>Struttura client/server </a:t>
            </a:r>
          </a:p>
        </p:txBody>
      </p:sp>
    </p:spTree>
    <p:extLst>
      <p:ext uri="{BB962C8B-B14F-4D97-AF65-F5344CB8AC3E}">
        <p14:creationId xmlns:p14="http://schemas.microsoft.com/office/powerpoint/2010/main" val="372098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sz="2400" b="1" dirty="0">
                <a:latin typeface="Calibri" panose="020F0502020204030204" pitchFamily="34" charset="0"/>
              </a:rPr>
              <a:t>Diffusione dei sistemi operativi desktop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48A5247-0E19-4029-B433-9EA806910B50}"/>
              </a:ext>
            </a:extLst>
          </p:cNvPr>
          <p:cNvSpPr txBox="1"/>
          <p:nvPr/>
        </p:nvSpPr>
        <p:spPr>
          <a:xfrm>
            <a:off x="2266353" y="5066591"/>
            <a:ext cx="30637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50" dirty="0"/>
              <a:t>2024 - Fonte: </a:t>
            </a:r>
            <a:r>
              <a:rPr lang="it-IT" sz="1350" dirty="0" err="1"/>
              <a:t>Alphadev</a:t>
            </a:r>
            <a:endParaRPr lang="en-US" sz="1350" dirty="0"/>
          </a:p>
        </p:txBody>
      </p:sp>
      <p:pic>
        <p:nvPicPr>
          <p:cNvPr id="4" name="Picture 2" descr="Utilizzo Sistemi Operativi nel mondo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r="12043"/>
          <a:stretch/>
        </p:blipFill>
        <p:spPr bwMode="auto">
          <a:xfrm>
            <a:off x="2014103" y="1734452"/>
            <a:ext cx="3886200" cy="337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11 mette a segno la crescita più grande da anni: Windows 10 quasi  acciuffato | Hardware Upgrad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122" y="1734452"/>
            <a:ext cx="3254888" cy="333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48A5247-0E19-4029-B433-9EA806910B50}"/>
              </a:ext>
            </a:extLst>
          </p:cNvPr>
          <p:cNvSpPr txBox="1"/>
          <p:nvPr/>
        </p:nvSpPr>
        <p:spPr>
          <a:xfrm>
            <a:off x="6661707" y="5066591"/>
            <a:ext cx="30637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50" dirty="0"/>
              <a:t>2025 - Fonte: </a:t>
            </a:r>
            <a:r>
              <a:rPr lang="it-IT" sz="1350" dirty="0" err="1"/>
              <a:t>Hardwareupgrade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88732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August 1995</a:t>
            </a:r>
          </a:p>
          <a:p>
            <a:pPr lvl="1">
              <a:lnSpc>
                <a:spcPct val="100000"/>
              </a:lnSpc>
              <a:spcBef>
                <a:spcPts val="450"/>
              </a:spcBef>
            </a:pPr>
            <a:r>
              <a:rPr lang="en-US" dirty="0">
                <a:latin typeface="Calibri" panose="020F0502020204030204" pitchFamily="34" charset="0"/>
              </a:rPr>
              <a:t>Introduced the taskbar, the 'Start' button</a:t>
            </a:r>
          </a:p>
          <a:p>
            <a:pPr lvl="1">
              <a:lnSpc>
                <a:spcPct val="100000"/>
              </a:lnSpc>
              <a:spcBef>
                <a:spcPts val="450"/>
              </a:spcBef>
            </a:pPr>
            <a:r>
              <a:rPr lang="en-US" dirty="0">
                <a:latin typeface="Calibri" panose="020F0502020204030204" pitchFamily="34" charset="0"/>
              </a:rPr>
              <a:t>Multitasked 32-bit architecture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sz="2400" b="1" dirty="0">
                <a:latin typeface="Calibri" panose="020F0502020204030204" pitchFamily="34" charset="0"/>
              </a:rPr>
              <a:t>Windows 95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/>
          </a:p>
        </p:txBody>
      </p:sp>
      <p:sp>
        <p:nvSpPr>
          <p:cNvPr id="10" name="Rettangolo 13">
            <a:extLst>
              <a:ext uri="{FF2B5EF4-FFF2-40B4-BE49-F238E27FC236}">
                <a16:creationId xmlns:a16="http://schemas.microsoft.com/office/drawing/2014/main" id="{7AAED416-12FD-4C00-A685-705E857A52C3}"/>
              </a:ext>
            </a:extLst>
          </p:cNvPr>
          <p:cNvSpPr/>
          <p:nvPr/>
        </p:nvSpPr>
        <p:spPr>
          <a:xfrm>
            <a:off x="2889647" y="3257550"/>
            <a:ext cx="2160270" cy="1805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 lIns="68580" tIns="68580" rIns="68580" bIns="68580" rtlCol="0" anchor="ctr"/>
          <a:lstStyle/>
          <a:p>
            <a:pPr marL="9049" marR="3810" indent="476" algn="ctr">
              <a:spcBef>
                <a:spcPts val="79"/>
              </a:spcBef>
            </a:pPr>
            <a:r>
              <a:rPr lang="en-US" sz="1350" b="1" spc="-4" dirty="0">
                <a:latin typeface="Calibri"/>
                <a:cs typeface="Calibri"/>
              </a:rPr>
              <a:t>Windows 95 included  support for 255-character  mixed-case long filenames.</a:t>
            </a:r>
          </a:p>
        </p:txBody>
      </p:sp>
      <p:pic>
        <p:nvPicPr>
          <p:cNvPr id="7" name="Picture 2" descr="Risultati immagini per Windows 95">
            <a:extLst>
              <a:ext uri="{FF2B5EF4-FFF2-40B4-BE49-F238E27FC236}">
                <a16:creationId xmlns:a16="http://schemas.microsoft.com/office/drawing/2014/main" id="{9E47EB66-16BA-46F0-9750-4FF2424CE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15" y="2161310"/>
            <a:ext cx="3397827" cy="253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/>
          <p:cNvSpPr/>
          <p:nvPr/>
        </p:nvSpPr>
        <p:spPr>
          <a:xfrm>
            <a:off x="5902036" y="5140118"/>
            <a:ext cx="468976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450"/>
              </a:spcBef>
            </a:pPr>
            <a:r>
              <a:rPr lang="en-US" sz="1050" dirty="0">
                <a:latin typeface="Calibri" panose="020F0502020204030204" pitchFamily="34" charset="0"/>
                <a:hlinkClick r:id="rId3"/>
              </a:rPr>
              <a:t>https://www.slideshare.net/DamianGordon1/a-history-of-microsoft-windows</a:t>
            </a:r>
            <a:r>
              <a:rPr lang="en-US" sz="1050" dirty="0"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294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t-IT" sz="2100" b="1" i="1" dirty="0" err="1">
                <a:solidFill>
                  <a:srgbClr val="C00000"/>
                </a:solidFill>
              </a:rPr>
              <a:t>Boot</a:t>
            </a:r>
            <a:r>
              <a:rPr lang="it-IT" sz="2100" b="1" i="1" dirty="0">
                <a:solidFill>
                  <a:srgbClr val="C00000"/>
                </a:solidFill>
              </a:rPr>
              <a:t> </a:t>
            </a:r>
            <a:r>
              <a:rPr lang="it-IT" sz="2100" b="1" i="1" dirty="0" err="1">
                <a:solidFill>
                  <a:srgbClr val="C00000"/>
                </a:solidFill>
              </a:rPr>
              <a:t>sequence</a:t>
            </a:r>
            <a:r>
              <a:rPr lang="it-IT" sz="2100" b="1" i="1" dirty="0">
                <a:solidFill>
                  <a:srgbClr val="C00000"/>
                </a:solidFill>
              </a:rPr>
              <a:t>:</a:t>
            </a:r>
            <a:r>
              <a:rPr lang="it-IT" sz="2100" dirty="0"/>
              <a:t> </a:t>
            </a:r>
          </a:p>
          <a:p>
            <a:pPr marL="685800" lvl="1" indent="-385763">
              <a:lnSpc>
                <a:spcPct val="150000"/>
              </a:lnSpc>
              <a:buFont typeface="+mj-lt"/>
              <a:buAutoNum type="arabicPeriod"/>
            </a:pPr>
            <a:r>
              <a:rPr lang="it-IT" sz="1800" dirty="0"/>
              <a:t>il firmware (BIOS/UEFI) sceglie un dispositivo </a:t>
            </a:r>
            <a:r>
              <a:rPr lang="it-IT" sz="1800" dirty="0" err="1"/>
              <a:t>bootable</a:t>
            </a:r>
            <a:r>
              <a:rPr lang="it-IT" sz="1800" dirty="0"/>
              <a:t>;</a:t>
            </a:r>
          </a:p>
          <a:p>
            <a:pPr marL="685800" lvl="1" indent="-385763">
              <a:lnSpc>
                <a:spcPct val="150000"/>
              </a:lnSpc>
              <a:buFont typeface="+mj-lt"/>
              <a:buAutoNum type="arabicPeriod"/>
            </a:pPr>
            <a:r>
              <a:rPr lang="it-IT" sz="1800" dirty="0"/>
              <a:t>il firmware carica il </a:t>
            </a:r>
            <a:r>
              <a:rPr lang="it-IT" sz="1800" dirty="0" err="1"/>
              <a:t>bootloader</a:t>
            </a:r>
            <a:r>
              <a:rPr lang="it-IT" sz="1800" dirty="0"/>
              <a:t> (dall'MBR con BIOS, dalla ESP con UEFI);</a:t>
            </a:r>
          </a:p>
          <a:p>
            <a:pPr marL="685800" lvl="1" indent="-385763">
              <a:lnSpc>
                <a:spcPct val="150000"/>
              </a:lnSpc>
              <a:buFont typeface="+mj-lt"/>
              <a:buAutoNum type="arabicPeriod"/>
            </a:pPr>
            <a:r>
              <a:rPr lang="it-IT" sz="1800" dirty="0"/>
              <a:t>il </a:t>
            </a:r>
            <a:r>
              <a:rPr lang="it-IT" sz="1800" dirty="0" err="1"/>
              <a:t>bootloader</a:t>
            </a:r>
            <a:r>
              <a:rPr lang="it-IT" sz="1800" dirty="0"/>
              <a:t> carica in memoria il </a:t>
            </a:r>
            <a:r>
              <a:rPr lang="it-IT" sz="1800" dirty="0" err="1"/>
              <a:t>kernel</a:t>
            </a:r>
            <a:r>
              <a:rPr lang="it-IT" sz="1800" dirty="0"/>
              <a:t>;</a:t>
            </a:r>
          </a:p>
          <a:p>
            <a:pPr marL="685800" lvl="1" indent="-385763">
              <a:lnSpc>
                <a:spcPct val="150000"/>
              </a:lnSpc>
              <a:buFont typeface="+mj-lt"/>
              <a:buAutoNum type="arabicPeriod"/>
            </a:pPr>
            <a:r>
              <a:rPr lang="it-IT" sz="1800" dirty="0"/>
              <a:t>il </a:t>
            </a:r>
            <a:r>
              <a:rPr lang="it-IT" sz="1800" dirty="0" err="1"/>
              <a:t>kernel</a:t>
            </a:r>
            <a:r>
              <a:rPr lang="it-IT" sz="1800" dirty="0"/>
              <a:t> prende il controllo e avvia il sistema operativo.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Impariamo un paio di parole prima di continuare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162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51422"/>
            <a:ext cx="8402782" cy="3446210"/>
          </a:xfrm>
        </p:spPr>
        <p:txBody>
          <a:bodyPr vert="horz" lIns="67500" tIns="33750" rIns="67500" bIns="33750" rtlCol="0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450"/>
              </a:spcBef>
              <a:buNone/>
            </a:pPr>
            <a:r>
              <a:rPr lang="en-US" dirty="0" err="1" smtClean="0">
                <a:latin typeface="Calibri" panose="020F0502020204030204" pitchFamily="34" charset="0"/>
              </a:rPr>
              <a:t>Tutto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considerato</a:t>
            </a:r>
            <a:r>
              <a:rPr lang="en-US" dirty="0" smtClean="0">
                <a:latin typeface="Calibri" panose="020F0502020204030204" pitchFamily="34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</a:rPr>
              <a:t>forse</a:t>
            </a:r>
            <a:r>
              <a:rPr lang="en-US" dirty="0" smtClean="0">
                <a:latin typeface="Calibri" panose="020F0502020204030204" pitchFamily="34" charset="0"/>
              </a:rPr>
              <a:t> vale la </a:t>
            </a:r>
            <a:r>
              <a:rPr lang="en-US" dirty="0" err="1" smtClean="0">
                <a:latin typeface="Calibri" panose="020F0502020204030204" pitchFamily="34" charset="0"/>
              </a:rPr>
              <a:t>pena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provare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una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delle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seguenti</a:t>
            </a:r>
            <a:r>
              <a:rPr lang="en-US" dirty="0" smtClean="0">
                <a:latin typeface="Calibri" panose="020F0502020204030204" pitchFamily="34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1" dirty="0" smtClean="0">
                <a:latin typeface="Calibri" panose="020F0502020204030204" pitchFamily="34" charset="0"/>
              </a:rPr>
              <a:t>Ubuntu: </a:t>
            </a:r>
            <a:r>
              <a:rPr lang="en-US" dirty="0" smtClean="0">
                <a:latin typeface="Calibri" panose="020F0502020204030204" pitchFamily="34" charset="0"/>
              </a:rPr>
              <a:t>Desktop molto </a:t>
            </a:r>
            <a:r>
              <a:rPr lang="en-US" dirty="0" err="1" smtClean="0">
                <a:latin typeface="Calibri" panose="020F0502020204030204" pitchFamily="34" charset="0"/>
              </a:rPr>
              <a:t>semplice</a:t>
            </a:r>
            <a:r>
              <a:rPr lang="en-US" dirty="0" smtClean="0">
                <a:latin typeface="Calibri" panose="020F0502020204030204" pitchFamily="34" charset="0"/>
              </a:rPr>
              <a:t>, entry level.</a:t>
            </a:r>
          </a:p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1" dirty="0" smtClean="0">
                <a:latin typeface="Calibri" panose="020F0502020204030204" pitchFamily="34" charset="0"/>
              </a:rPr>
              <a:t>Fedora</a:t>
            </a:r>
            <a:r>
              <a:rPr lang="en-US" b="1" dirty="0">
                <a:latin typeface="Calibri" panose="020F0502020204030204" pitchFamily="34" charset="0"/>
              </a:rPr>
              <a:t>: </a:t>
            </a:r>
            <a:r>
              <a:rPr lang="en-US" dirty="0" err="1" smtClean="0">
                <a:latin typeface="Calibri" panose="020F0502020204030204" pitchFamily="34" charset="0"/>
              </a:rPr>
              <a:t>Più</a:t>
            </a:r>
            <a:r>
              <a:rPr lang="en-US" dirty="0" smtClean="0">
                <a:latin typeface="Calibri" panose="020F0502020204030204" pitchFamily="34" charset="0"/>
              </a:rPr>
              <a:t> simile a </a:t>
            </a:r>
            <a:r>
              <a:rPr lang="en-US" dirty="0" err="1" smtClean="0">
                <a:latin typeface="Calibri" panose="020F0502020204030204" pitchFamily="34" charset="0"/>
              </a:rPr>
              <a:t>sistemi</a:t>
            </a:r>
            <a:r>
              <a:rPr lang="en-US" dirty="0" smtClean="0">
                <a:latin typeface="Calibri" panose="020F0502020204030204" pitchFamily="34" charset="0"/>
              </a:rPr>
              <a:t> enterprise-level </a:t>
            </a:r>
            <a:r>
              <a:rPr lang="en-US" dirty="0" err="1" smtClean="0">
                <a:latin typeface="Calibri" panose="020F0502020204030204" pitchFamily="34" charset="0"/>
              </a:rPr>
              <a:t>usati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nei</a:t>
            </a:r>
            <a:r>
              <a:rPr lang="en-US" dirty="0" smtClean="0">
                <a:latin typeface="Calibri" panose="020F0502020204030204" pitchFamily="34" charset="0"/>
              </a:rPr>
              <a:t> server.</a:t>
            </a:r>
          </a:p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b="1" dirty="0" err="1" smtClean="0">
                <a:latin typeface="Calibri" panose="020F0502020204030204" pitchFamily="34" charset="0"/>
              </a:rPr>
              <a:t>Debian</a:t>
            </a:r>
            <a:r>
              <a:rPr lang="en-US" b="1" dirty="0">
                <a:latin typeface="Calibri" panose="020F0502020204030204" pitchFamily="34" charset="0"/>
              </a:rPr>
              <a:t>: </a:t>
            </a:r>
            <a:r>
              <a:rPr lang="en-US" dirty="0" err="1" smtClean="0">
                <a:latin typeface="Calibri" panose="020F0502020204030204" pitchFamily="34" charset="0"/>
              </a:rPr>
              <a:t>Esperienza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più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tradizionale</a:t>
            </a:r>
            <a:r>
              <a:rPr lang="en-US" dirty="0" smtClean="0">
                <a:latin typeface="Calibri" panose="020F0502020204030204" pitchFamily="34" charset="0"/>
              </a:rPr>
              <a:t> e </a:t>
            </a:r>
            <a:r>
              <a:rPr lang="en-US" dirty="0" err="1" smtClean="0">
                <a:latin typeface="Calibri" panose="020F0502020204030204" pitchFamily="34" charset="0"/>
              </a:rPr>
              <a:t>romantica</a:t>
            </a:r>
            <a:r>
              <a:rPr lang="en-US" dirty="0" smtClean="0">
                <a:latin typeface="Calibri" panose="020F0502020204030204" pitchFamily="34" charset="0"/>
              </a:rPr>
              <a:t>, community based, </a:t>
            </a:r>
            <a:r>
              <a:rPr lang="en-US" dirty="0" err="1" smtClean="0">
                <a:latin typeface="Calibri" panose="020F0502020204030204" pitchFamily="34" charset="0"/>
              </a:rPr>
              <a:t>ideale</a:t>
            </a:r>
            <a:r>
              <a:rPr lang="en-US" dirty="0" smtClean="0">
                <a:latin typeface="Calibri" panose="020F0502020204030204" pitchFamily="34" charset="0"/>
              </a:rPr>
              <a:t> per </a:t>
            </a:r>
            <a:r>
              <a:rPr lang="en-US" dirty="0" err="1" smtClean="0">
                <a:latin typeface="Calibri" panose="020F0502020204030204" pitchFamily="34" charset="0"/>
              </a:rPr>
              <a:t>capire</a:t>
            </a:r>
            <a:r>
              <a:rPr lang="en-US" dirty="0" smtClean="0">
                <a:latin typeface="Calibri" panose="020F0502020204030204" pitchFamily="34" charset="0"/>
              </a:rPr>
              <a:t> le </a:t>
            </a:r>
            <a:r>
              <a:rPr lang="en-US" dirty="0" err="1" smtClean="0">
                <a:latin typeface="Calibri" panose="020F0502020204030204" pitchFamily="34" charset="0"/>
              </a:rPr>
              <a:t>meccaniche</a:t>
            </a:r>
            <a:r>
              <a:rPr lang="en-US" dirty="0" smtClean="0">
                <a:latin typeface="Calibri" panose="020F0502020204030204" pitchFamily="34" charset="0"/>
              </a:rPr>
              <a:t> di base, </a:t>
            </a:r>
            <a:r>
              <a:rPr lang="en-US" dirty="0" err="1" smtClean="0">
                <a:latin typeface="Calibri" panose="020F0502020204030204" pitchFamily="34" charset="0"/>
              </a:rPr>
              <a:t>senza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</a:rPr>
              <a:t>fronzoli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endParaRPr lang="it-IT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b="1" dirty="0">
                <a:latin typeface="Calibri" panose="020F0502020204030204" pitchFamily="34" charset="0"/>
              </a:rPr>
              <a:t>Che </a:t>
            </a:r>
            <a:r>
              <a:rPr lang="it-IT" sz="2400" b="1" dirty="0" err="1">
                <a:latin typeface="Calibri" panose="020F0502020204030204" pitchFamily="34" charset="0"/>
              </a:rPr>
              <a:t>distro</a:t>
            </a:r>
            <a:r>
              <a:rPr lang="it-IT" sz="2400" b="1" dirty="0">
                <a:latin typeface="Calibri" panose="020F0502020204030204" pitchFamily="34" charset="0"/>
              </a:rPr>
              <a:t> scegliere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/>
          </a:p>
        </p:txBody>
      </p:sp>
      <p:sp>
        <p:nvSpPr>
          <p:cNvPr id="6" name="Freccia a destra 5"/>
          <p:cNvSpPr/>
          <p:nvPr/>
        </p:nvSpPr>
        <p:spPr>
          <a:xfrm flipH="1">
            <a:off x="9141115" y="2346614"/>
            <a:ext cx="1242867" cy="561110"/>
          </a:xfrm>
          <a:prstGeom prst="rightArrow">
            <a:avLst>
              <a:gd name="adj1" fmla="val 50000"/>
              <a:gd name="adj2" fmla="val 102713"/>
            </a:avLst>
          </a:prstGeom>
          <a:solidFill>
            <a:schemeClr val="accent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350" b="1" dirty="0">
                <a:solidFill>
                  <a:schemeClr val="bg1">
                    <a:lumMod val="10000"/>
                  </a:schemeClr>
                </a:solidFill>
              </a:rPr>
              <a:t>My </a:t>
            </a:r>
            <a:r>
              <a:rPr lang="it-IT" sz="1350" b="1" dirty="0" err="1">
                <a:solidFill>
                  <a:schemeClr val="bg1">
                    <a:lumMod val="10000"/>
                  </a:schemeClr>
                </a:solidFill>
              </a:rPr>
              <a:t>prefe</a:t>
            </a:r>
            <a:endParaRPr lang="it-IT" sz="1350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latin typeface="Calibri" panose="020F0502020204030204" pitchFamily="34" charset="0"/>
              </a:rPr>
              <a:t>Il </a:t>
            </a:r>
            <a:r>
              <a:rPr lang="it-IT" dirty="0" err="1" smtClean="0">
                <a:latin typeface="Calibri" panose="020F0502020204030204" pitchFamily="34" charset="0"/>
              </a:rPr>
              <a:t>prompt</a:t>
            </a:r>
            <a:r>
              <a:rPr lang="it-IT" dirty="0" smtClean="0">
                <a:latin typeface="Calibri" panose="020F0502020204030204" pitchFamily="34" charset="0"/>
              </a:rPr>
              <a:t> della </a:t>
            </a:r>
            <a:r>
              <a:rPr lang="it-IT" dirty="0">
                <a:latin typeface="Calibri" panose="020F0502020204030204" pitchFamily="34" charset="0"/>
              </a:rPr>
              <a:t>Shell BASH</a:t>
            </a:r>
            <a:endParaRPr lang="it-IT" dirty="0"/>
          </a:p>
        </p:txBody>
      </p:sp>
      <p:pic>
        <p:nvPicPr>
          <p:cNvPr id="9" name="Segnaposto contenuto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7" t="13364" r="38521" b="65004"/>
          <a:stretch/>
        </p:blipFill>
        <p:spPr>
          <a:xfrm>
            <a:off x="4045526" y="1910196"/>
            <a:ext cx="4177146" cy="1223143"/>
          </a:xfrm>
        </p:spPr>
      </p:pic>
      <p:sp>
        <p:nvSpPr>
          <p:cNvPr id="10" name="Callout 6 9"/>
          <p:cNvSpPr/>
          <p:nvPr/>
        </p:nvSpPr>
        <p:spPr>
          <a:xfrm rot="16200000">
            <a:off x="4498399" y="2148322"/>
            <a:ext cx="311729" cy="874568"/>
          </a:xfrm>
          <a:prstGeom prst="accentCallout2">
            <a:avLst>
              <a:gd name="adj1" fmla="val 18750"/>
              <a:gd name="adj2" fmla="val -8333"/>
              <a:gd name="adj3" fmla="val 18872"/>
              <a:gd name="adj4" fmla="val -149908"/>
              <a:gd name="adj5" fmla="val -111565"/>
              <a:gd name="adj6" fmla="val -249164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>
              <a:noFill/>
            </a:endParaRPr>
          </a:p>
        </p:txBody>
      </p:sp>
      <p:sp>
        <p:nvSpPr>
          <p:cNvPr id="11" name="Callout 6 10"/>
          <p:cNvSpPr/>
          <p:nvPr/>
        </p:nvSpPr>
        <p:spPr>
          <a:xfrm rot="16200000">
            <a:off x="5613690" y="2079050"/>
            <a:ext cx="311729" cy="1013111"/>
          </a:xfrm>
          <a:prstGeom prst="accentCallout2">
            <a:avLst>
              <a:gd name="adj1" fmla="val 18750"/>
              <a:gd name="adj2" fmla="val -8333"/>
              <a:gd name="adj3" fmla="val 18872"/>
              <a:gd name="adj4" fmla="val -149908"/>
              <a:gd name="adj5" fmla="val -54535"/>
              <a:gd name="adj6" fmla="val -246942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>
              <a:noFill/>
            </a:endParaRPr>
          </a:p>
        </p:txBody>
      </p:sp>
      <p:sp>
        <p:nvSpPr>
          <p:cNvPr id="12" name="Callout 6 11"/>
          <p:cNvSpPr/>
          <p:nvPr/>
        </p:nvSpPr>
        <p:spPr>
          <a:xfrm rot="16200000">
            <a:off x="6311612" y="2492952"/>
            <a:ext cx="311729" cy="185306"/>
          </a:xfrm>
          <a:prstGeom prst="accentCallout2">
            <a:avLst>
              <a:gd name="adj1" fmla="val 18750"/>
              <a:gd name="adj2" fmla="val -8333"/>
              <a:gd name="adj3" fmla="val 18872"/>
              <a:gd name="adj4" fmla="val -149908"/>
              <a:gd name="adj5" fmla="val -111565"/>
              <a:gd name="adj6" fmla="val -249164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>
              <a:noFill/>
            </a:endParaRPr>
          </a:p>
        </p:txBody>
      </p:sp>
      <p:sp>
        <p:nvSpPr>
          <p:cNvPr id="13" name="Callout 6 12"/>
          <p:cNvSpPr/>
          <p:nvPr/>
        </p:nvSpPr>
        <p:spPr>
          <a:xfrm rot="16200000">
            <a:off x="6726383" y="2360469"/>
            <a:ext cx="311729" cy="450275"/>
          </a:xfrm>
          <a:prstGeom prst="accentCallout2">
            <a:avLst>
              <a:gd name="adj1" fmla="val 18750"/>
              <a:gd name="adj2" fmla="val -8333"/>
              <a:gd name="adj3" fmla="val 18872"/>
              <a:gd name="adj4" fmla="val -149908"/>
              <a:gd name="adj5" fmla="val 89973"/>
              <a:gd name="adj6" fmla="val -24472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>
              <a:noFill/>
            </a:endParaRPr>
          </a:p>
        </p:txBody>
      </p:sp>
      <p:sp>
        <p:nvSpPr>
          <p:cNvPr id="14" name="Callout 6 13"/>
          <p:cNvSpPr/>
          <p:nvPr/>
        </p:nvSpPr>
        <p:spPr>
          <a:xfrm rot="16200000">
            <a:off x="7084870" y="2511137"/>
            <a:ext cx="311729" cy="148939"/>
          </a:xfrm>
          <a:prstGeom prst="accentCallout2">
            <a:avLst>
              <a:gd name="adj1" fmla="val 18750"/>
              <a:gd name="adj2" fmla="val -8333"/>
              <a:gd name="adj3" fmla="val 18872"/>
              <a:gd name="adj4" fmla="val -149908"/>
              <a:gd name="adj5" fmla="val 573686"/>
              <a:gd name="adj6" fmla="val -244720"/>
            </a:avLst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>
              <a:noFill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2541669" y="3531177"/>
            <a:ext cx="9476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it-IT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4182179" y="3531176"/>
            <a:ext cx="9441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it-IT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4258425" y="4982965"/>
            <a:ext cx="375134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35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Nota: il </a:t>
            </a:r>
            <a:r>
              <a:rPr lang="it-IT" sz="135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it-IT" sz="135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\u@\h:\w\$</a:t>
            </a:r>
            <a:r>
              <a:rPr lang="it-IT" sz="135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può essere cambiato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5510669" y="3531178"/>
            <a:ext cx="1198919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=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 =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folder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886535" y="3531177"/>
            <a:ext cx="5015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</a:t>
            </a:r>
            <a:endParaRPr lang="it-IT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7457785" y="3531178"/>
            <a:ext cx="1327159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Privilege</a:t>
            </a:r>
            <a:endParaRPr lang="it-IT"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35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UID 0</a:t>
            </a:r>
          </a:p>
          <a:p>
            <a:pPr algn="ctr"/>
            <a:r>
              <a:rPr lang="it-IT" sz="135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it-IT" sz="13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it-IT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UID &gt; 0</a:t>
            </a:r>
          </a:p>
        </p:txBody>
      </p:sp>
    </p:spTree>
    <p:extLst>
      <p:ext uri="{BB962C8B-B14F-4D97-AF65-F5344CB8AC3E}">
        <p14:creationId xmlns:p14="http://schemas.microsoft.com/office/powerpoint/2010/main" val="182122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851424"/>
            <a:ext cx="8104909" cy="2919737"/>
          </a:xfrm>
        </p:spPr>
        <p:txBody>
          <a:bodyPr vert="horz" lIns="67500" tIns="33750" rIns="67500" bIns="33750" numCol="3" rtlCol="0">
            <a:normAutofit fontScale="85000" lnSpcReduction="20000"/>
          </a:bodyPr>
          <a:lstStyle/>
          <a:p>
            <a:pPr marL="685800" lvl="2" indent="0">
              <a:spcBef>
                <a:spcPts val="450"/>
              </a:spcBef>
              <a:buNone/>
            </a:pPr>
            <a:r>
              <a:rPr lang="it-IT" dirty="0" err="1" smtClean="0">
                <a:latin typeface="Consolas" panose="020B0609020204030204" pitchFamily="49" charset="0"/>
              </a:rPr>
              <a:t>echo</a:t>
            </a:r>
            <a:r>
              <a:rPr lang="it-IT" dirty="0" smtClean="0">
                <a:latin typeface="Consolas" panose="020B0609020204030204" pitchFamily="49" charset="0"/>
              </a:rPr>
              <a:t> </a:t>
            </a:r>
            <a:r>
              <a:rPr lang="it-IT" dirty="0">
                <a:latin typeface="Consolas" panose="020B0609020204030204" pitchFamily="49" charset="0"/>
              </a:rPr>
              <a:t>$SHELL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echo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smtClean="0">
                <a:latin typeface="Consolas" panose="020B0609020204030204" pitchFamily="49" charset="0"/>
              </a:rPr>
              <a:t>hello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 smtClean="0">
                <a:latin typeface="Consolas" panose="020B0609020204030204" pitchFamily="49" charset="0"/>
              </a:rPr>
              <a:t>passwd</a:t>
            </a:r>
            <a:endParaRPr lang="it-IT" dirty="0" smtClean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 smtClean="0">
                <a:latin typeface="Consolas" panose="020B0609020204030204" pitchFamily="49" charset="0"/>
              </a:rPr>
              <a:t>touch</a:t>
            </a:r>
            <a:r>
              <a:rPr lang="it-IT" dirty="0" smtClean="0">
                <a:latin typeface="Consolas" panose="020B0609020204030204" pitchFamily="49" charset="0"/>
              </a:rPr>
              <a:t> file.txt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ls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date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hostname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uname</a:t>
            </a:r>
            <a:r>
              <a:rPr lang="it-IT" dirty="0">
                <a:latin typeface="Consolas" panose="020B0609020204030204" pitchFamily="49" charset="0"/>
              </a:rPr>
              <a:t> -</a:t>
            </a:r>
            <a:r>
              <a:rPr lang="it-IT" dirty="0" smtClean="0">
                <a:latin typeface="Consolas" panose="020B0609020204030204" pitchFamily="49" charset="0"/>
              </a:rPr>
              <a:t>a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u</a:t>
            </a:r>
            <a:r>
              <a:rPr lang="it-IT" dirty="0" err="1" smtClean="0">
                <a:latin typeface="Consolas" panose="020B0609020204030204" pitchFamily="49" charset="0"/>
              </a:rPr>
              <a:t>name</a:t>
            </a:r>
            <a:r>
              <a:rPr lang="it-IT" dirty="0" smtClean="0">
                <a:latin typeface="Consolas" panose="020B0609020204030204" pitchFamily="49" charset="0"/>
              </a:rPr>
              <a:t> -r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uptime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 smtClean="0">
                <a:latin typeface="Consolas" panose="020B0609020204030204" pitchFamily="49" charset="0"/>
              </a:rPr>
              <a:t>whoami</a:t>
            </a:r>
            <a:endParaRPr lang="it-IT" dirty="0" smtClean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who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w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id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man </a:t>
            </a:r>
            <a:r>
              <a:rPr lang="it-IT" dirty="0" err="1" smtClean="0">
                <a:latin typeface="Consolas" panose="020B0609020204030204" pitchFamily="49" charset="0"/>
              </a:rPr>
              <a:t>ls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clear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cal</a:t>
            </a:r>
            <a:r>
              <a:rPr lang="it-IT" dirty="0">
                <a:latin typeface="Consolas" panose="020B0609020204030204" pitchFamily="49" charset="0"/>
              </a:rPr>
              <a:t> 2000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cal</a:t>
            </a:r>
            <a:r>
              <a:rPr lang="it-IT" dirty="0">
                <a:latin typeface="Consolas" panose="020B0609020204030204" pitchFamily="49" charset="0"/>
              </a:rPr>
              <a:t> 9 1752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h</a:t>
            </a:r>
            <a:r>
              <a:rPr lang="it-IT" dirty="0" err="1" smtClean="0">
                <a:latin typeface="Consolas" panose="020B0609020204030204" pitchFamily="49" charset="0"/>
              </a:rPr>
              <a:t>istory</a:t>
            </a:r>
            <a:endParaRPr lang="it-IT" dirty="0" smtClean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>
                <a:latin typeface="Consolas" panose="020B0609020204030204" pitchFamily="49" charset="0"/>
              </a:rPr>
              <a:t>arch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last</a:t>
            </a: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err="1" smtClean="0">
                <a:latin typeface="Consolas" panose="020B0609020204030204" pitchFamily="49" charset="0"/>
              </a:rPr>
              <a:t>bc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>
                <a:latin typeface="Consolas" panose="020B0609020204030204" pitchFamily="49" charset="0"/>
              </a:rPr>
              <a:t>yes </a:t>
            </a:r>
            <a:r>
              <a:rPr lang="it-IT" dirty="0" err="1" smtClean="0">
                <a:latin typeface="Consolas" panose="020B0609020204030204" pitchFamily="49" charset="0"/>
              </a:rPr>
              <a:t>please</a:t>
            </a:r>
            <a:endParaRPr lang="it-IT" dirty="0" smtClean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dirty="0" smtClean="0">
                <a:latin typeface="Consolas" panose="020B0609020204030204" pitchFamily="49" charset="0"/>
              </a:rPr>
              <a:t>^c (</a:t>
            </a:r>
            <a:r>
              <a:rPr lang="it-IT" dirty="0" err="1" smtClean="0">
                <a:latin typeface="Consolas" panose="020B0609020204030204" pitchFamily="49" charset="0"/>
              </a:rPr>
              <a:t>ctrl+c</a:t>
            </a:r>
            <a:r>
              <a:rPr lang="it-IT" dirty="0" smtClean="0">
                <a:latin typeface="Consolas" panose="020B0609020204030204" pitchFamily="49" charset="0"/>
              </a:rPr>
              <a:t>)</a:t>
            </a:r>
            <a:endParaRPr lang="it-IT" dirty="0">
              <a:latin typeface="Consolas" panose="020B0609020204030204" pitchFamily="49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endParaRPr lang="it-IT" sz="135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2" indent="0">
              <a:spcBef>
                <a:spcPts val="450"/>
              </a:spcBef>
              <a:buNone/>
            </a:pPr>
            <a:r>
              <a:rPr lang="it-IT" sz="135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Potrebbero non essere tutti disponibili su </a:t>
            </a:r>
            <a:r>
              <a:rPr lang="it-IT" sz="135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Ubuntu</a:t>
            </a:r>
            <a:r>
              <a:rPr lang="it-IT" sz="135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 si possono installare</a:t>
            </a:r>
          </a:p>
          <a:p>
            <a:pPr marL="685800" lvl="2" indent="0">
              <a:spcBef>
                <a:spcPts val="450"/>
              </a:spcBef>
              <a:buNone/>
            </a:pPr>
            <a:endParaRPr lang="it-IT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dirty="0">
                <a:latin typeface="Calibri" panose="020F0502020204030204" pitchFamily="34" charset="0"/>
              </a:rPr>
              <a:t>Comandi da provare</a:t>
            </a:r>
            <a:endParaRPr lang="it-IT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0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/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Struttura ad </a:t>
            </a:r>
            <a:r>
              <a:rPr lang="it-IT" dirty="0" smtClean="0">
                <a:latin typeface="Calibri" panose="020F0502020204030204" pitchFamily="34" charset="0"/>
              </a:rPr>
              <a:t>albero</a:t>
            </a:r>
            <a:endParaRPr lang="it-IT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Innestato sulla directory di </a:t>
            </a:r>
            <a:r>
              <a:rPr lang="it-IT" dirty="0" err="1" smtClean="0">
                <a:latin typeface="Calibri" panose="020F0502020204030204" pitchFamily="34" charset="0"/>
              </a:rPr>
              <a:t>root</a:t>
            </a:r>
            <a:r>
              <a:rPr lang="it-IT" dirty="0" smtClean="0">
                <a:latin typeface="Calibri" panose="020F0502020204030204" pitchFamily="34" charset="0"/>
              </a:rPr>
              <a:t>:  </a:t>
            </a:r>
            <a:r>
              <a:rPr lang="it-IT" i="1" dirty="0" smtClean="0">
                <a:latin typeface="Calibri" panose="020F0502020204030204" pitchFamily="34" charset="0"/>
              </a:rPr>
              <a:t>/</a:t>
            </a:r>
            <a:endParaRPr lang="it-IT" i="1" dirty="0">
              <a:latin typeface="Calibri" panose="020F0502020204030204" pitchFamily="34" charset="0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it-IT" i="1" dirty="0" smtClean="0">
                <a:latin typeface="Calibri" panose="020F0502020204030204" pitchFamily="34" charset="0"/>
              </a:rPr>
              <a:t> </a:t>
            </a:r>
            <a:endParaRPr lang="it-IT" i="1" dirty="0">
              <a:latin typeface="Calibri" panose="020F0502020204030204" pitchFamily="34" charset="0"/>
            </a:endParaRPr>
          </a:p>
          <a:p>
            <a:pPr marL="0" indent="0" algn="ctr">
              <a:spcBef>
                <a:spcPts val="450"/>
              </a:spcBef>
              <a:buNone/>
            </a:pPr>
            <a: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‘’Everything is a file.</a:t>
            </a:r>
            <a:b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</a:br>
            <a:r>
              <a:rPr lang="it-IT" sz="3000" b="1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If</a:t>
            </a:r>
            <a: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something is not a file,</a:t>
            </a:r>
            <a:b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</a:br>
            <a:r>
              <a:rPr lang="it-IT" sz="3000" b="1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it</a:t>
            </a:r>
            <a: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it-IT" sz="3000" b="1" i="1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is</a:t>
            </a:r>
            <a:r>
              <a:rPr lang="it-IT" sz="3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a process’’</a:t>
            </a:r>
          </a:p>
          <a:p>
            <a:pPr>
              <a:spcBef>
                <a:spcPts val="450"/>
              </a:spcBef>
            </a:pPr>
            <a:endParaRPr lang="it-IT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it-IT" sz="2400" b="1" dirty="0">
                <a:latin typeface="Calibri" panose="020F0502020204030204" pitchFamily="34" charset="0"/>
              </a:rPr>
              <a:t>Il file </a:t>
            </a:r>
            <a:r>
              <a:rPr lang="it-IT" sz="2400" b="1" dirty="0" err="1">
                <a:latin typeface="Calibri" panose="020F0502020204030204" pitchFamily="34" charset="0"/>
              </a:rPr>
              <a:t>system</a:t>
            </a:r>
            <a:r>
              <a:rPr lang="it-IT" sz="2400" b="1" dirty="0">
                <a:latin typeface="Calibri" panose="020F0502020204030204" pitchFamily="34" charset="0"/>
              </a:rPr>
              <a:t> </a:t>
            </a:r>
            <a:r>
              <a:rPr lang="it-IT" sz="2400" b="1" dirty="0" err="1">
                <a:latin typeface="Calibri" panose="020F0502020204030204" pitchFamily="34" charset="0"/>
              </a:rPr>
              <a:t>Ext</a:t>
            </a:r>
            <a:r>
              <a:rPr lang="it-IT" sz="2400" b="1" dirty="0">
                <a:latin typeface="Calibri" panose="020F0502020204030204" pitchFamily="34" charset="0"/>
              </a:rPr>
              <a:t> (e la filosofia UNIX)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0868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/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Copiare un file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sz="1950" dirty="0">
                <a:latin typeface="Consolas" panose="020B0609020204030204" pitchFamily="49" charset="0"/>
              </a:rPr>
              <a:t>cp &lt;file_sorgente.ext&gt; &lt;</a:t>
            </a:r>
            <a:r>
              <a:rPr lang="it-IT" sz="1950" dirty="0" err="1">
                <a:latin typeface="Consolas" panose="020B0609020204030204" pitchFamily="49" charset="0"/>
              </a:rPr>
              <a:t>directory_destinazione</a:t>
            </a:r>
            <a:r>
              <a:rPr lang="it-IT" sz="1950" dirty="0">
                <a:latin typeface="Consolas" panose="020B0609020204030204" pitchFamily="49" charset="0"/>
              </a:rPr>
              <a:t>&gt;</a:t>
            </a:r>
          </a:p>
          <a:p>
            <a:pPr lvl="1">
              <a:spcBef>
                <a:spcPts val="450"/>
              </a:spcBef>
            </a:pPr>
            <a:endParaRPr lang="it-IT" i="1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Spostare un file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sz="1950" dirty="0">
                <a:latin typeface="Consolas" panose="020B0609020204030204" pitchFamily="49" charset="0"/>
              </a:rPr>
              <a:t>mv &lt;file_sorgente.ext&gt; &lt;</a:t>
            </a:r>
            <a:r>
              <a:rPr lang="it-IT" sz="1950" dirty="0" err="1">
                <a:latin typeface="Consolas" panose="020B0609020204030204" pitchFamily="49" charset="0"/>
              </a:rPr>
              <a:t>directory_destinazione</a:t>
            </a:r>
            <a:r>
              <a:rPr lang="it-IT" sz="1950" dirty="0"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450"/>
              </a:spcBef>
            </a:pPr>
            <a:endParaRPr lang="it-IT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Rinominare un file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sz="1950" dirty="0">
                <a:latin typeface="Consolas" panose="020B0609020204030204" pitchFamily="49" charset="0"/>
              </a:rPr>
              <a:t>mv &lt;file_sorgente.ext&gt; &lt;</a:t>
            </a:r>
            <a:r>
              <a:rPr lang="it-IT" sz="1950" dirty="0" err="1">
                <a:latin typeface="Consolas" panose="020B0609020204030204" pitchFamily="49" charset="0"/>
              </a:rPr>
              <a:t>dir_dest</a:t>
            </a:r>
            <a:r>
              <a:rPr lang="it-IT" sz="1950" dirty="0">
                <a:latin typeface="Consolas" panose="020B0609020204030204" pitchFamily="49" charset="0"/>
              </a:rPr>
              <a:t>/</a:t>
            </a:r>
            <a:r>
              <a:rPr lang="it-IT" sz="1950" dirty="0" err="1">
                <a:latin typeface="Consolas" panose="020B0609020204030204" pitchFamily="49" charset="0"/>
              </a:rPr>
              <a:t>nuovo_nome_file</a:t>
            </a:r>
            <a:r>
              <a:rPr lang="it-IT" sz="1950" dirty="0"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450"/>
              </a:spcBef>
            </a:pPr>
            <a:endParaRPr lang="it-IT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b="1" dirty="0">
                <a:latin typeface="Calibri" panose="020F0502020204030204" pitchFamily="34" charset="0"/>
              </a:rPr>
              <a:t>Manipolazione di file (2/2)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0586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 fontScale="85000" lnSpcReduction="10000"/>
          </a:bodyPr>
          <a:lstStyle/>
          <a:p>
            <a:pPr>
              <a:spcBef>
                <a:spcPts val="450"/>
              </a:spcBef>
            </a:pPr>
            <a:r>
              <a:rPr lang="it-IT" dirty="0" err="1" smtClean="0">
                <a:latin typeface="Consolas" panose="020B0609020204030204" pitchFamily="49" charset="0"/>
              </a:rPr>
              <a:t>chmod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g+rw</a:t>
            </a:r>
            <a:r>
              <a:rPr lang="en-US" dirty="0">
                <a:latin typeface="Consolas" panose="020B0609020204030204" pitchFamily="49" charset="0"/>
              </a:rPr>
              <a:t> esempio.txt </a:t>
            </a:r>
            <a:r>
              <a:rPr lang="en-US" i="1" dirty="0" smtClean="0">
                <a:latin typeface="Calibri" panose="020F0502020204030204" pitchFamily="34" charset="0"/>
              </a:rPr>
              <a:t/>
            </a:r>
            <a:br>
              <a:rPr lang="en-US" i="1" dirty="0" smtClean="0">
                <a:latin typeface="Calibri" panose="020F0502020204030204" pitchFamily="34" charset="0"/>
              </a:rPr>
            </a:b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aggiunge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lettura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scrittura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al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gruppo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dell’utente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che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possiede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il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file)</a:t>
            </a:r>
          </a:p>
          <a:p>
            <a:pPr>
              <a:spcBef>
                <a:spcPts val="450"/>
              </a:spcBef>
            </a:pPr>
            <a:endParaRPr lang="en-US" i="1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en-US" dirty="0" err="1">
                <a:latin typeface="Consolas" panose="020B0609020204030204" pitchFamily="49" charset="0"/>
              </a:rPr>
              <a:t>chmod</a:t>
            </a:r>
            <a:r>
              <a:rPr lang="en-US" dirty="0">
                <a:latin typeface="Consolas" panose="020B0609020204030204" pitchFamily="49" charset="0"/>
              </a:rPr>
              <a:t> o-</a:t>
            </a:r>
            <a:r>
              <a:rPr lang="en-US" dirty="0" err="1">
                <a:latin typeface="Consolas" panose="020B0609020204030204" pitchFamily="49" charset="0"/>
              </a:rPr>
              <a:t>rx</a:t>
            </a:r>
            <a:r>
              <a:rPr lang="en-US" dirty="0">
                <a:latin typeface="Consolas" panose="020B0609020204030204" pitchFamily="49" charset="0"/>
              </a:rPr>
              <a:t> esempio.txt </a:t>
            </a:r>
            <a:r>
              <a:rPr lang="en-US" i="1" dirty="0" smtClean="0">
                <a:latin typeface="Calibri" panose="020F0502020204030204" pitchFamily="34" charset="0"/>
              </a:rPr>
              <a:t/>
            </a:r>
            <a:br>
              <a:rPr lang="en-US" i="1" dirty="0" smtClean="0">
                <a:latin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rimuove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lettura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esecuzione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agli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altri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utenti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)</a:t>
            </a:r>
          </a:p>
          <a:p>
            <a:pPr>
              <a:spcBef>
                <a:spcPts val="450"/>
              </a:spcBef>
            </a:pPr>
            <a:endParaRPr lang="en-US" i="1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en-US" dirty="0" err="1">
                <a:latin typeface="Consolas" panose="020B0609020204030204" pitchFamily="49" charset="0"/>
              </a:rPr>
              <a:t>chmod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ug+x</a:t>
            </a:r>
            <a:r>
              <a:rPr lang="en-US" dirty="0">
                <a:latin typeface="Consolas" panose="020B0609020204030204" pitchFamily="49" charset="0"/>
              </a:rPr>
              <a:t> esempio.txt </a:t>
            </a:r>
            <a:r>
              <a:rPr lang="en-US" i="1" dirty="0" smtClean="0">
                <a:latin typeface="Calibri" panose="020F0502020204030204" pitchFamily="34" charset="0"/>
              </a:rPr>
              <a:t/>
            </a:r>
            <a:br>
              <a:rPr lang="en-US" i="1" dirty="0" smtClean="0">
                <a:latin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aggiunge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esecuzione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all’utente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e al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gruppo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che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possiedono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il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 file)</a:t>
            </a:r>
          </a:p>
          <a:p>
            <a:pPr>
              <a:spcBef>
                <a:spcPts val="450"/>
              </a:spcBef>
            </a:pPr>
            <a:endParaRPr lang="en-US" i="1" dirty="0">
              <a:latin typeface="Calibri" panose="020F0502020204030204" pitchFamily="34" charset="0"/>
            </a:endParaRPr>
          </a:p>
          <a:p>
            <a:pPr>
              <a:spcBef>
                <a:spcPts val="450"/>
              </a:spcBef>
            </a:pPr>
            <a:r>
              <a:rPr lang="en-US" dirty="0" err="1">
                <a:latin typeface="Consolas" panose="020B0609020204030204" pitchFamily="49" charset="0"/>
              </a:rPr>
              <a:t>chmod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a+rwx</a:t>
            </a:r>
            <a:r>
              <a:rPr lang="en-US" dirty="0">
                <a:latin typeface="Consolas" panose="020B0609020204030204" pitchFamily="49" charset="0"/>
              </a:rPr>
              <a:t> file_pubblico.txt</a:t>
            </a:r>
            <a:r>
              <a:rPr lang="en-US" i="1" dirty="0" smtClean="0">
                <a:latin typeface="Calibri" panose="020F0502020204030204" pitchFamily="34" charset="0"/>
              </a:rPr>
              <a:t/>
            </a:r>
            <a:br>
              <a:rPr lang="en-US" i="1" dirty="0" smtClean="0">
                <a:latin typeface="Calibri" panose="020F0502020204030204" pitchFamily="34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sconsigliato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!)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b="1" dirty="0">
                <a:latin typeface="Calibri" panose="020F0502020204030204" pitchFamily="34" charset="0"/>
              </a:rPr>
              <a:t>Modifica dei privilegi (</a:t>
            </a:r>
            <a:r>
              <a:rPr lang="it-IT" sz="2400" dirty="0">
                <a:latin typeface="Calibri" panose="020F0502020204030204" pitchFamily="34" charset="0"/>
              </a:rPr>
              <a:t>esempi</a:t>
            </a:r>
            <a:r>
              <a:rPr lang="it-IT" sz="2400" b="1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9824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/>
          <a:p>
            <a:pPr>
              <a:spcBef>
                <a:spcPts val="450"/>
              </a:spcBef>
            </a:pPr>
            <a:r>
              <a:rPr lang="en-US" sz="2100" dirty="0" err="1">
                <a:latin typeface="Calibri" panose="020F0502020204030204" pitchFamily="34" charset="0"/>
              </a:rPr>
              <a:t>Spesso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si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trovano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i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permessi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espressi</a:t>
            </a:r>
            <a:r>
              <a:rPr lang="en-US" sz="2100" dirty="0">
                <a:latin typeface="Calibri" panose="020F0502020204030204" pitchFamily="34" charset="0"/>
              </a:rPr>
              <a:t> in </a:t>
            </a:r>
            <a:r>
              <a:rPr lang="en-US" sz="2100" dirty="0" err="1">
                <a:latin typeface="Calibri" panose="020F0502020204030204" pitchFamily="34" charset="0"/>
              </a:rPr>
              <a:t>formato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numerico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</a:p>
          <a:p>
            <a:pPr lvl="1">
              <a:spcBef>
                <a:spcPts val="450"/>
              </a:spcBef>
            </a:pPr>
            <a:r>
              <a:rPr lang="it-IT" sz="1800" i="1" dirty="0">
                <a:latin typeface="Calibri" panose="020F0502020204030204" pitchFamily="34" charset="0"/>
              </a:rPr>
              <a:t>7</a:t>
            </a:r>
            <a:r>
              <a:rPr lang="it-IT" sz="1800" dirty="0">
                <a:latin typeface="Calibri" panose="020F0502020204030204" pitchFamily="34" charset="0"/>
              </a:rPr>
              <a:t> = permessi di lettura, scrittura, esecuzione (tutti e 3 i bit settati a 1)</a:t>
            </a:r>
          </a:p>
          <a:p>
            <a:pPr lvl="1">
              <a:spcBef>
                <a:spcPts val="450"/>
              </a:spcBef>
            </a:pPr>
            <a:r>
              <a:rPr lang="it-IT" sz="1800" i="1" dirty="0">
                <a:latin typeface="Calibri" panose="020F0502020204030204" pitchFamily="34" charset="0"/>
              </a:rPr>
              <a:t>777</a:t>
            </a:r>
            <a:r>
              <a:rPr lang="it-IT" sz="1800" dirty="0">
                <a:latin typeface="Calibri" panose="020F0502020204030204" pitchFamily="34" charset="0"/>
              </a:rPr>
              <a:t> = permessi di lettura, scrittura, esecuzione a tutti </a:t>
            </a:r>
            <a:r>
              <a:rPr lang="it-IT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it-IT" sz="1800" i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anche no, dai</a:t>
            </a:r>
            <a:r>
              <a:rPr lang="it-IT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rPr>
              <a:t>)</a:t>
            </a:r>
          </a:p>
          <a:p>
            <a:pPr>
              <a:spcBef>
                <a:spcPts val="450"/>
              </a:spcBef>
            </a:pPr>
            <a:r>
              <a:rPr lang="en-US" sz="2100" dirty="0" err="1">
                <a:latin typeface="Calibri" panose="020F0502020204030204" pitchFamily="34" charset="0"/>
              </a:rPr>
              <a:t>Impostare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i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permessi</a:t>
            </a:r>
            <a:r>
              <a:rPr lang="en-US" sz="2100" dirty="0">
                <a:latin typeface="Calibri" panose="020F0502020204030204" pitchFamily="34" charset="0"/>
              </a:rPr>
              <a:t> di sola </a:t>
            </a:r>
            <a:r>
              <a:rPr lang="en-US" sz="2100" dirty="0" err="1">
                <a:latin typeface="Calibri" panose="020F0502020204030204" pitchFamily="34" charset="0"/>
              </a:rPr>
              <a:t>lettura</a:t>
            </a:r>
            <a:r>
              <a:rPr lang="en-US" sz="2100" dirty="0">
                <a:latin typeface="Calibri" panose="020F0502020204030204" pitchFamily="34" charset="0"/>
              </a:rPr>
              <a:t> (</a:t>
            </a:r>
            <a:r>
              <a:rPr lang="en-US" sz="2100" dirty="0" err="1">
                <a:latin typeface="Calibri" panose="020F0502020204030204" pitchFamily="34" charset="0"/>
              </a:rPr>
              <a:t>ed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esecuzione</a:t>
            </a:r>
            <a:r>
              <a:rPr lang="en-US" sz="2100" dirty="0">
                <a:latin typeface="Calibri" panose="020F0502020204030204" pitchFamily="34" charset="0"/>
              </a:rPr>
              <a:t>):</a:t>
            </a:r>
          </a:p>
          <a:p>
            <a:pPr lvl="1">
              <a:spcBef>
                <a:spcPts val="450"/>
              </a:spcBef>
            </a:pPr>
            <a:r>
              <a:rPr lang="it-IT" sz="1800" dirty="0" err="1">
                <a:latin typeface="Consolas" panose="020B0609020204030204" pitchFamily="49" charset="0"/>
              </a:rPr>
              <a:t>chmod</a:t>
            </a:r>
            <a:r>
              <a:rPr lang="it-IT" sz="1800" dirty="0">
                <a:latin typeface="Consolas" panose="020B0609020204030204" pitchFamily="49" charset="0"/>
              </a:rPr>
              <a:t> 555 &lt;</a:t>
            </a:r>
            <a:r>
              <a:rPr lang="it-IT" sz="1800" dirty="0" err="1">
                <a:latin typeface="Consolas" panose="020B0609020204030204" pitchFamily="49" charset="0"/>
              </a:rPr>
              <a:t>nome_file</a:t>
            </a:r>
            <a:r>
              <a:rPr lang="it-IT" sz="1800" dirty="0"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450"/>
              </a:spcBef>
            </a:pPr>
            <a:endParaRPr lang="it-IT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b="1" dirty="0">
                <a:latin typeface="Calibri" panose="020F0502020204030204" pitchFamily="34" charset="0"/>
              </a:rPr>
              <a:t>Modifica dei privilegi (</a:t>
            </a:r>
            <a:r>
              <a:rPr lang="it-IT" sz="2400" b="1" dirty="0" err="1">
                <a:latin typeface="Calibri" panose="020F0502020204030204" pitchFamily="34" charset="0"/>
              </a:rPr>
              <a:t>shortcut</a:t>
            </a:r>
            <a:r>
              <a:rPr lang="it-IT" sz="2400" b="1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1" y="3100204"/>
            <a:ext cx="2286000" cy="2280557"/>
          </a:xfrm>
          <a:prstGeom prst="rect">
            <a:avLst/>
          </a:prstGeom>
        </p:spPr>
      </p:pic>
      <p:graphicFrame>
        <p:nvGraphicFramePr>
          <p:cNvPr id="5" name="Tabella 4"/>
          <p:cNvGraphicFramePr>
            <a:graphicFrameLocks noGrp="1"/>
          </p:cNvGraphicFramePr>
          <p:nvPr>
            <p:extLst/>
          </p:nvPr>
        </p:nvGraphicFramePr>
        <p:xfrm>
          <a:off x="4059381" y="3711286"/>
          <a:ext cx="3685315" cy="1593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063">
                  <a:extLst>
                    <a:ext uri="{9D8B030D-6E8A-4147-A177-3AD203B41FA5}">
                      <a16:colId xmlns:a16="http://schemas.microsoft.com/office/drawing/2014/main" val="3506828305"/>
                    </a:ext>
                  </a:extLst>
                </a:gridCol>
                <a:gridCol w="737063">
                  <a:extLst>
                    <a:ext uri="{9D8B030D-6E8A-4147-A177-3AD203B41FA5}">
                      <a16:colId xmlns:a16="http://schemas.microsoft.com/office/drawing/2014/main" val="3239618584"/>
                    </a:ext>
                  </a:extLst>
                </a:gridCol>
                <a:gridCol w="737063">
                  <a:extLst>
                    <a:ext uri="{9D8B030D-6E8A-4147-A177-3AD203B41FA5}">
                      <a16:colId xmlns:a16="http://schemas.microsoft.com/office/drawing/2014/main" val="2742801615"/>
                    </a:ext>
                  </a:extLst>
                </a:gridCol>
                <a:gridCol w="737063">
                  <a:extLst>
                    <a:ext uri="{9D8B030D-6E8A-4147-A177-3AD203B41FA5}">
                      <a16:colId xmlns:a16="http://schemas.microsoft.com/office/drawing/2014/main" val="2893281024"/>
                    </a:ext>
                  </a:extLst>
                </a:gridCol>
                <a:gridCol w="737063">
                  <a:extLst>
                    <a:ext uri="{9D8B030D-6E8A-4147-A177-3AD203B41FA5}">
                      <a16:colId xmlns:a16="http://schemas.microsoft.com/office/drawing/2014/main" val="1070154412"/>
                    </a:ext>
                  </a:extLst>
                </a:gridCol>
              </a:tblGrid>
              <a:tr h="534353">
                <a:tc>
                  <a:txBody>
                    <a:bodyPr/>
                    <a:lstStyle/>
                    <a:p>
                      <a:pPr algn="ctr"/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r</a:t>
                      </a:r>
                      <a:br>
                        <a:rPr lang="it-IT" sz="1100" b="1" dirty="0" smtClean="0">
                          <a:latin typeface="Consolas" panose="020B0609020204030204" pitchFamily="49" charset="0"/>
                        </a:rPr>
                      </a:br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(4,msb)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w</a:t>
                      </a:r>
                      <a:br>
                        <a:rPr lang="it-IT" sz="1100" b="1" dirty="0" smtClean="0">
                          <a:latin typeface="Consolas" panose="020B0609020204030204" pitchFamily="49" charset="0"/>
                        </a:rPr>
                      </a:br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(2)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br>
                        <a:rPr lang="it-IT" sz="1100" b="1" dirty="0" smtClean="0">
                          <a:latin typeface="Consolas" panose="020B0609020204030204" pitchFamily="49" charset="0"/>
                        </a:rPr>
                      </a:br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(1,lsb)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#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956612"/>
                  </a:ext>
                </a:extLst>
              </a:tr>
              <a:tr h="352973"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U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7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292763"/>
                  </a:ext>
                </a:extLst>
              </a:tr>
              <a:tr h="352973"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G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b="1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6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48218"/>
                  </a:ext>
                </a:extLst>
              </a:tr>
              <a:tr h="352973"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O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x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 smtClean="0">
                          <a:latin typeface="Consolas" panose="020B0609020204030204" pitchFamily="49" charset="0"/>
                        </a:rPr>
                        <a:t>5</a:t>
                      </a:r>
                      <a:endParaRPr lang="it-IT" sz="1100" b="1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20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21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7500" tIns="33750" rIns="67500" bIns="33750" rtlCol="0">
            <a:normAutofit/>
          </a:bodyPr>
          <a:lstStyle/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Salvare l’output di un programma su file (redirezione dello standard output)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b="1" dirty="0">
                <a:latin typeface="Consolas" panose="020B0609020204030204" pitchFamily="49" charset="0"/>
                <a:cs typeface="ＭＳ Ｐゴシック" charset="-128"/>
              </a:rPr>
              <a:t>&lt;programma&gt; &gt; &lt;file_output.txt</a:t>
            </a:r>
            <a:r>
              <a:rPr lang="it-IT" b="1" dirty="0" smtClean="0">
                <a:latin typeface="Consolas" panose="020B0609020204030204" pitchFamily="49" charset="0"/>
                <a:cs typeface="ＭＳ Ｐゴシック" charset="-128"/>
              </a:rPr>
              <a:t>&gt;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dirty="0">
                <a:latin typeface="Calibri" panose="020F0502020204030204" pitchFamily="34" charset="0"/>
              </a:rPr>
              <a:t>Es: </a:t>
            </a:r>
            <a:r>
              <a:rPr lang="it-IT" b="1" dirty="0" err="1" smtClean="0">
                <a:latin typeface="Consolas" panose="020B0609020204030204" pitchFamily="49" charset="0"/>
                <a:cs typeface="ＭＳ Ｐゴシック" charset="-128"/>
              </a:rPr>
              <a:t>ls</a:t>
            </a:r>
            <a:r>
              <a:rPr lang="it-IT" b="1" dirty="0" smtClean="0">
                <a:latin typeface="Consolas" panose="020B0609020204030204" pitchFamily="49" charset="0"/>
                <a:cs typeface="ＭＳ Ｐゴシック" charset="-128"/>
              </a:rPr>
              <a:t> -l &gt; lista_file.txt</a:t>
            </a:r>
            <a:endParaRPr lang="it-IT" b="1" dirty="0">
              <a:latin typeface="Consolas" panose="020B0609020204030204" pitchFamily="49" charset="0"/>
              <a:cs typeface="ＭＳ Ｐゴシック" charset="-128"/>
            </a:endParaRPr>
          </a:p>
          <a:p>
            <a:pPr marL="342900" lvl="1" indent="0">
              <a:spcBef>
                <a:spcPts val="450"/>
              </a:spcBef>
              <a:buNone/>
            </a:pPr>
            <a:r>
              <a:rPr lang="it-IT" b="1" dirty="0">
                <a:latin typeface="Consolas" panose="020B0609020204030204" pitchFamily="49" charset="0"/>
                <a:cs typeface="ＭＳ Ｐゴシック" charset="-128"/>
              </a:rPr>
              <a:t>&gt;</a:t>
            </a:r>
            <a:r>
              <a:rPr lang="it-IT" dirty="0">
                <a:latin typeface="Calibri" panose="020F0502020204030204" pitchFamily="34" charset="0"/>
              </a:rPr>
              <a:t> sovrascrive il file se esiste; </a:t>
            </a:r>
            <a:r>
              <a:rPr lang="it-IT" b="1" dirty="0">
                <a:latin typeface="Consolas" panose="020B0609020204030204" pitchFamily="49" charset="0"/>
                <a:cs typeface="ＭＳ Ｐゴシック" charset="-128"/>
              </a:rPr>
              <a:t>&gt;&gt;</a:t>
            </a:r>
            <a:r>
              <a:rPr lang="it-IT" dirty="0">
                <a:latin typeface="Calibri" panose="020F0502020204030204" pitchFamily="34" charset="0"/>
              </a:rPr>
              <a:t> aggiunge l’output in coda al file</a:t>
            </a:r>
          </a:p>
          <a:p>
            <a:pPr>
              <a:spcBef>
                <a:spcPts val="450"/>
              </a:spcBef>
            </a:pPr>
            <a:r>
              <a:rPr lang="it-IT" dirty="0">
                <a:latin typeface="Calibri" panose="020F0502020204030204" pitchFamily="34" charset="0"/>
              </a:rPr>
              <a:t>Usare un file come input di un programma (redirezione dello standard input)</a:t>
            </a:r>
          </a:p>
          <a:p>
            <a:pPr marL="342900" lvl="1" indent="0">
              <a:spcBef>
                <a:spcPts val="450"/>
              </a:spcBef>
              <a:buNone/>
            </a:pPr>
            <a:r>
              <a:rPr lang="it-IT" b="1" dirty="0">
                <a:latin typeface="Consolas" panose="020B0609020204030204" pitchFamily="49" charset="0"/>
                <a:cs typeface="ＭＳ Ｐゴシック" charset="-128"/>
              </a:rPr>
              <a:t>&lt;programma&gt; &lt; &lt;file_input.txt&gt;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400" b="1" dirty="0">
                <a:latin typeface="Calibri" panose="020F0502020204030204" pitchFamily="34" charset="0"/>
              </a:rPr>
              <a:t>Redirezione su file (1/2)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5453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LINUX scripts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La colla che tiene insieme lo </a:t>
            </a:r>
            <a:r>
              <a:rPr lang="it-IT" dirty="0" err="1" smtClean="0"/>
              <a:t>spaziotempo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119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67500" tIns="35100" rIns="67500" bIns="3510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2250" b="1" dirty="0">
                <a:latin typeface="Calibri" panose="020F0502020204030204" pitchFamily="34" charset="0"/>
              </a:rPr>
              <a:t>Android – Architettura (1/3)</a:t>
            </a:r>
          </a:p>
        </p:txBody>
      </p:sp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1350"/>
          </a:p>
        </p:txBody>
      </p:sp>
      <p:sp>
        <p:nvSpPr>
          <p:cNvPr id="30723" name="Rectangle 30722"/>
          <p:cNvSpPr/>
          <p:nvPr/>
        </p:nvSpPr>
        <p:spPr>
          <a:xfrm>
            <a:off x="3009900" y="1719750"/>
            <a:ext cx="6172200" cy="6000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Applicazioni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Telefono, Contatti, Browser, app di terze parti (Kotlin, Java)</a:t>
            </a:r>
          </a:p>
        </p:txBody>
      </p:sp>
      <p:sp>
        <p:nvSpPr>
          <p:cNvPr id="30724" name="Rectangle 30723"/>
          <p:cNvSpPr/>
          <p:nvPr/>
        </p:nvSpPr>
        <p:spPr>
          <a:xfrm>
            <a:off x="3009900" y="2357250"/>
            <a:ext cx="6172200" cy="712500"/>
          </a:xfrm>
          <a:prstGeom prst="rect">
            <a:avLst/>
          </a:prstGeom>
          <a:solidFill>
            <a:srgbClr val="54823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Android Framework (API Java/Kotlin)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Activity Manager, Package Manager, Window Manager, Content Provider, Notification Manager, …</a:t>
            </a:r>
          </a:p>
        </p:txBody>
      </p:sp>
      <p:sp>
        <p:nvSpPr>
          <p:cNvPr id="30725" name="Rectangle 30724"/>
          <p:cNvSpPr/>
          <p:nvPr/>
        </p:nvSpPr>
        <p:spPr>
          <a:xfrm>
            <a:off x="3009900" y="3107250"/>
            <a:ext cx="3579876" cy="75000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Librerie native (C/C++)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libc, SQLite, Skia, OpenGL ES / Vulkan, Media, WebView</a:t>
            </a:r>
          </a:p>
        </p:txBody>
      </p:sp>
      <p:sp>
        <p:nvSpPr>
          <p:cNvPr id="30726" name="Rectangle 30725"/>
          <p:cNvSpPr/>
          <p:nvPr/>
        </p:nvSpPr>
        <p:spPr>
          <a:xfrm>
            <a:off x="6627276" y="3107250"/>
            <a:ext cx="2554824" cy="750000"/>
          </a:xfrm>
          <a:prstGeom prst="rect">
            <a:avLst/>
          </a:prstGeom>
          <a:solidFill>
            <a:srgbClr val="833C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Android Runtime (ART)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Esegue il bytecode (AOT/JIT)</a:t>
            </a:r>
          </a:p>
        </p:txBody>
      </p:sp>
      <p:sp>
        <p:nvSpPr>
          <p:cNvPr id="30727" name="Rectangle 30726"/>
          <p:cNvSpPr/>
          <p:nvPr/>
        </p:nvSpPr>
        <p:spPr>
          <a:xfrm>
            <a:off x="3009900" y="3894750"/>
            <a:ext cx="6172200" cy="600000"/>
          </a:xfrm>
          <a:prstGeom prst="rect">
            <a:avLst/>
          </a:prstGeom>
          <a:solidFill>
            <a:srgbClr val="7F7F7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HAL – Hardware Abstraction Layer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Fotocamera, audio, sensori, Bluetooth: implementati dal produttore</a:t>
            </a:r>
          </a:p>
        </p:txBody>
      </p:sp>
      <p:sp>
        <p:nvSpPr>
          <p:cNvPr id="30728" name="Rectangle 30727"/>
          <p:cNvSpPr/>
          <p:nvPr/>
        </p:nvSpPr>
        <p:spPr>
          <a:xfrm>
            <a:off x="3009900" y="4532250"/>
            <a:ext cx="6172200" cy="675000"/>
          </a:xfrm>
          <a:prstGeom prst="rect">
            <a:avLst/>
          </a:prstGeom>
          <a:solidFill>
            <a:srgbClr val="40404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Kernel Linux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Driver, Binder (comunicazione tra processi), memoria, processi, energia</a:t>
            </a:r>
          </a:p>
        </p:txBody>
      </p:sp>
    </p:spTree>
    <p:extLst>
      <p:ext uri="{BB962C8B-B14F-4D97-AF65-F5344CB8AC3E}">
        <p14:creationId xmlns:p14="http://schemas.microsoft.com/office/powerpoint/2010/main" val="293945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667001" y="857251"/>
            <a:ext cx="1191" cy="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it-IT" sz="135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4EBB93B6-F212-44AE-8C9C-7DE6200F46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rcRect l="7740" t="9572" r="36070" b="78364"/>
          <a:stretch/>
        </p:blipFill>
        <p:spPr>
          <a:xfrm rot="16200000">
            <a:off x="298911" y="2828559"/>
            <a:ext cx="4062846" cy="673331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EBB93B6-F212-44AE-8C9C-7DE6200F46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rcRect l="7740" t="20482" r="11094" b="6792"/>
          <a:stretch/>
        </p:blipFill>
        <p:spPr>
          <a:xfrm>
            <a:off x="2859232" y="908317"/>
            <a:ext cx="7209639" cy="498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56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Machine Learning VS </a:t>
            </a:r>
            <a:r>
              <a:rPr lang="it-IT" dirty="0" err="1" smtClean="0"/>
              <a:t>Traditional</a:t>
            </a:r>
            <a:r>
              <a:rPr lang="it-IT" dirty="0" smtClean="0"/>
              <a:t> Programming</a:t>
            </a:r>
            <a:endParaRPr lang="it-IT" dirty="0"/>
          </a:p>
        </p:txBody>
      </p:sp>
      <p:grpSp>
        <p:nvGrpSpPr>
          <p:cNvPr id="13" name="Gruppo 12"/>
          <p:cNvGrpSpPr/>
          <p:nvPr/>
        </p:nvGrpSpPr>
        <p:grpSpPr>
          <a:xfrm>
            <a:off x="1973511" y="3800454"/>
            <a:ext cx="8832926" cy="1148080"/>
            <a:chOff x="267564" y="2001520"/>
            <a:chExt cx="8832926" cy="1148080"/>
          </a:xfrm>
        </p:grpSpPr>
        <p:sp>
          <p:nvSpPr>
            <p:cNvPr id="4" name="Rettangolo 3"/>
            <p:cNvSpPr/>
            <p:nvPr/>
          </p:nvSpPr>
          <p:spPr>
            <a:xfrm>
              <a:off x="3068320" y="2001520"/>
              <a:ext cx="2489200" cy="1148080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 smtClean="0"/>
                <a:t>Machine </a:t>
              </a:r>
              <a:r>
                <a:rPr lang="it-IT" dirty="0" err="1" smtClean="0"/>
                <a:t>learning</a:t>
              </a:r>
              <a:endParaRPr lang="it-IT" dirty="0"/>
            </a:p>
          </p:txBody>
        </p:sp>
        <p:cxnSp>
          <p:nvCxnSpPr>
            <p:cNvPr id="6" name="Connettore 2 5"/>
            <p:cNvCxnSpPr>
              <a:stCxn id="7" idx="3"/>
            </p:cNvCxnSpPr>
            <p:nvPr/>
          </p:nvCxnSpPr>
          <p:spPr>
            <a:xfrm>
              <a:off x="1758654" y="2286000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CasellaDiTesto 6"/>
            <p:cNvSpPr txBox="1"/>
            <p:nvPr/>
          </p:nvSpPr>
          <p:spPr>
            <a:xfrm>
              <a:off x="876681" y="2055167"/>
              <a:ext cx="8819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chemeClr val="dk1"/>
                  </a:solidFill>
                  <a:latin typeface="+mn-lt"/>
                  <a:ea typeface="+mn-ea"/>
                </a:rPr>
                <a:t>Data</a:t>
              </a:r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267564" y="2673922"/>
              <a:ext cx="1521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 smtClean="0">
                  <a:solidFill>
                    <a:schemeClr val="dk1"/>
                  </a:solidFill>
                  <a:latin typeface="+mn-lt"/>
                  <a:ea typeface="+mn-ea"/>
                </a:rPr>
                <a:t>Decisions</a:t>
              </a:r>
              <a:endParaRPr lang="it-IT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cxnSp>
          <p:nvCxnSpPr>
            <p:cNvPr id="10" name="Connettore 2 9"/>
            <p:cNvCxnSpPr/>
            <p:nvPr/>
          </p:nvCxnSpPr>
          <p:spPr>
            <a:xfrm>
              <a:off x="1748981" y="2918767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ttore 2 10"/>
            <p:cNvCxnSpPr/>
            <p:nvPr/>
          </p:nvCxnSpPr>
          <p:spPr>
            <a:xfrm>
              <a:off x="5557520" y="2568247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CasellaDiTesto 11"/>
            <p:cNvSpPr txBox="1"/>
            <p:nvPr/>
          </p:nvSpPr>
          <p:spPr>
            <a:xfrm>
              <a:off x="6867186" y="2337414"/>
              <a:ext cx="2233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 err="1" smtClean="0">
                  <a:solidFill>
                    <a:schemeClr val="dk1"/>
                  </a:solidFill>
                  <a:latin typeface="+mn-lt"/>
                  <a:ea typeface="+mn-ea"/>
                </a:rPr>
                <a:t>Rules</a:t>
              </a:r>
              <a:r>
                <a:rPr lang="it-IT" b="1" dirty="0" smtClean="0">
                  <a:solidFill>
                    <a:schemeClr val="dk1"/>
                  </a:solidFill>
                  <a:latin typeface="+mn-lt"/>
                  <a:ea typeface="+mn-ea"/>
                </a:rPr>
                <a:t> </a:t>
              </a:r>
              <a:r>
                <a:rPr lang="it-IT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</a:rPr>
                <a:t>(model)</a:t>
              </a:r>
              <a:endParaRPr lang="it-IT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4" name="Gruppo 13"/>
          <p:cNvGrpSpPr/>
          <p:nvPr/>
        </p:nvGrpSpPr>
        <p:grpSpPr>
          <a:xfrm>
            <a:off x="926467" y="1615440"/>
            <a:ext cx="7625887" cy="1148080"/>
            <a:chOff x="804547" y="2001520"/>
            <a:chExt cx="7625887" cy="1148080"/>
          </a:xfrm>
        </p:grpSpPr>
        <p:sp>
          <p:nvSpPr>
            <p:cNvPr id="15" name="Rettangolo 14"/>
            <p:cNvSpPr/>
            <p:nvPr/>
          </p:nvSpPr>
          <p:spPr>
            <a:xfrm>
              <a:off x="3068320" y="2001520"/>
              <a:ext cx="2489200" cy="1148080"/>
            </a:xfrm>
            <a:prstGeom prst="rect">
              <a:avLst/>
            </a:prstGeom>
            <a:solidFill>
              <a:schemeClr val="accent5">
                <a:lumMod val="10000"/>
                <a:lumOff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 err="1" smtClean="0"/>
                <a:t>Traditional</a:t>
              </a:r>
              <a:r>
                <a:rPr lang="it-IT" dirty="0" smtClean="0"/>
                <a:t> software</a:t>
              </a:r>
              <a:endParaRPr lang="it-IT" dirty="0"/>
            </a:p>
          </p:txBody>
        </p:sp>
        <p:cxnSp>
          <p:nvCxnSpPr>
            <p:cNvPr id="16" name="Connettore 2 15"/>
            <p:cNvCxnSpPr>
              <a:stCxn id="17" idx="3"/>
            </p:cNvCxnSpPr>
            <p:nvPr/>
          </p:nvCxnSpPr>
          <p:spPr>
            <a:xfrm>
              <a:off x="1758654" y="2286000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CasellaDiTesto 16"/>
            <p:cNvSpPr txBox="1"/>
            <p:nvPr/>
          </p:nvSpPr>
          <p:spPr>
            <a:xfrm>
              <a:off x="876681" y="2055167"/>
              <a:ext cx="8819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chemeClr val="dk1"/>
                  </a:solidFill>
                  <a:latin typeface="+mn-lt"/>
                  <a:ea typeface="+mn-ea"/>
                </a:rPr>
                <a:t>Data</a:t>
              </a:r>
            </a:p>
          </p:txBody>
        </p:sp>
        <p:sp>
          <p:nvSpPr>
            <p:cNvPr id="18" name="CasellaDiTesto 17"/>
            <p:cNvSpPr txBox="1"/>
            <p:nvPr/>
          </p:nvSpPr>
          <p:spPr>
            <a:xfrm>
              <a:off x="804547" y="2687935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 smtClean="0">
                  <a:solidFill>
                    <a:schemeClr val="dk1"/>
                  </a:solidFill>
                  <a:latin typeface="+mn-lt"/>
                  <a:ea typeface="+mn-ea"/>
                </a:rPr>
                <a:t>Rules</a:t>
              </a:r>
              <a:endParaRPr lang="it-IT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cxnSp>
          <p:nvCxnSpPr>
            <p:cNvPr id="19" name="Connettore 2 18"/>
            <p:cNvCxnSpPr/>
            <p:nvPr/>
          </p:nvCxnSpPr>
          <p:spPr>
            <a:xfrm>
              <a:off x="1748981" y="2918767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ttore 2 19"/>
            <p:cNvCxnSpPr/>
            <p:nvPr/>
          </p:nvCxnSpPr>
          <p:spPr>
            <a:xfrm>
              <a:off x="5557520" y="2568247"/>
              <a:ext cx="127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CasellaDiTesto 20"/>
            <p:cNvSpPr txBox="1"/>
            <p:nvPr/>
          </p:nvSpPr>
          <p:spPr>
            <a:xfrm>
              <a:off x="6867186" y="2337414"/>
              <a:ext cx="1563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 err="1" smtClean="0">
                  <a:solidFill>
                    <a:schemeClr val="dk1"/>
                  </a:solidFill>
                  <a:latin typeface="+mn-lt"/>
                  <a:ea typeface="+mn-ea"/>
                </a:rPr>
                <a:t>Decisions</a:t>
              </a:r>
              <a:endParaRPr lang="it-IT" b="1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626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contenuto 2"/>
          <p:cNvSpPr txBox="1">
            <a:spLocks/>
          </p:cNvSpPr>
          <p:nvPr/>
        </p:nvSpPr>
        <p:spPr bwMode="auto">
          <a:xfrm>
            <a:off x="2139298" y="1145136"/>
            <a:ext cx="8528703" cy="48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24242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424242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it-IT" sz="2000" dirty="0"/>
          </a:p>
        </p:txBody>
      </p:sp>
      <p:sp>
        <p:nvSpPr>
          <p:cNvPr id="9" name="Segnaposto contenut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it-IT" sz="2400" b="1" dirty="0" smtClean="0">
                <a:ea typeface="+mn-ea"/>
                <a:cs typeface="+mn-cs"/>
              </a:rPr>
              <a:t>Data, </a:t>
            </a:r>
            <a:r>
              <a:rPr lang="it-IT" sz="2400" b="1" dirty="0">
                <a:ea typeface="+mn-ea"/>
                <a:cs typeface="+mn-cs"/>
              </a:rPr>
              <a:t>Idea, </a:t>
            </a:r>
            <a:r>
              <a:rPr lang="it-IT" sz="2400" b="1" dirty="0" err="1" smtClean="0">
                <a:ea typeface="+mn-ea"/>
                <a:cs typeface="+mn-cs"/>
              </a:rPr>
              <a:t>Matter</a:t>
            </a:r>
            <a:r>
              <a:rPr lang="it-IT" sz="2400" b="1" dirty="0" smtClean="0">
                <a:ea typeface="+mn-ea"/>
                <a:cs typeface="+mn-cs"/>
              </a:rPr>
              <a:t>, State, </a:t>
            </a:r>
            <a:r>
              <a:rPr lang="it-IT" sz="2400" b="1" dirty="0" err="1" smtClean="0">
                <a:ea typeface="+mn-ea"/>
                <a:cs typeface="+mn-cs"/>
              </a:rPr>
              <a:t>Configuration</a:t>
            </a:r>
            <a:r>
              <a:rPr lang="it-IT" sz="2400" b="1" dirty="0" smtClean="0">
                <a:ea typeface="+mn-ea"/>
                <a:cs typeface="+mn-cs"/>
              </a:rPr>
              <a:t>: </a:t>
            </a:r>
            <a:r>
              <a:rPr lang="en-US" sz="2400" dirty="0">
                <a:ea typeface="+mn-ea"/>
                <a:cs typeface="+mn-cs"/>
              </a:rPr>
              <a:t>the world in an </a:t>
            </a:r>
            <a:r>
              <a:rPr lang="en-US" sz="2400" dirty="0" smtClean="0">
                <a:ea typeface="+mn-ea"/>
                <a:cs typeface="+mn-cs"/>
              </a:rPr>
              <a:t>instant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it-IT" sz="2400" b="1" dirty="0" err="1">
                <a:ea typeface="+mn-ea"/>
                <a:cs typeface="+mn-cs"/>
              </a:rPr>
              <a:t>Function</a:t>
            </a:r>
            <a:r>
              <a:rPr lang="it-IT" sz="2400" b="1" dirty="0">
                <a:ea typeface="+mn-ea"/>
                <a:cs typeface="+mn-cs"/>
              </a:rPr>
              <a:t>, </a:t>
            </a:r>
            <a:r>
              <a:rPr lang="it-IT" sz="2400" b="1" dirty="0" err="1">
                <a:ea typeface="+mn-ea"/>
                <a:cs typeface="+mn-cs"/>
              </a:rPr>
              <a:t>Process</a:t>
            </a:r>
            <a:r>
              <a:rPr lang="it-IT" sz="2400" b="1" dirty="0">
                <a:ea typeface="+mn-ea"/>
                <a:cs typeface="+mn-cs"/>
              </a:rPr>
              <a:t>, </a:t>
            </a:r>
            <a:r>
              <a:rPr lang="it-IT" sz="2400" b="1" dirty="0" err="1">
                <a:ea typeface="+mn-ea"/>
                <a:cs typeface="+mn-cs"/>
              </a:rPr>
              <a:t>Transformation</a:t>
            </a:r>
            <a:r>
              <a:rPr lang="it-IT" sz="2400" b="1" dirty="0">
                <a:ea typeface="+mn-ea"/>
                <a:cs typeface="+mn-cs"/>
              </a:rPr>
              <a:t>, </a:t>
            </a:r>
            <a:r>
              <a:rPr lang="it-IT" sz="2400" b="1" dirty="0" err="1">
                <a:ea typeface="+mn-ea"/>
                <a:cs typeface="+mn-cs"/>
              </a:rPr>
              <a:t>Transition</a:t>
            </a:r>
            <a:r>
              <a:rPr lang="it-IT" sz="2400" b="1" dirty="0">
                <a:ea typeface="+mn-ea"/>
                <a:cs typeface="+mn-cs"/>
              </a:rPr>
              <a:t>: </a:t>
            </a:r>
            <a:r>
              <a:rPr lang="en-US" sz="2400" dirty="0">
                <a:ea typeface="+mn-ea"/>
                <a:cs typeface="+mn-cs"/>
              </a:rPr>
              <a:t>transition from one moment to the next</a:t>
            </a:r>
            <a:r>
              <a:rPr lang="it-IT" sz="2400" dirty="0" smtClean="0">
                <a:ea typeface="+mn-ea"/>
                <a:cs typeface="+mn-cs"/>
              </a:rPr>
              <a:t>, </a:t>
            </a:r>
            <a:r>
              <a:rPr lang="it-IT" sz="2400" dirty="0" err="1" smtClean="0">
                <a:ea typeface="+mn-ea"/>
                <a:cs typeface="+mn-cs"/>
              </a:rPr>
              <a:t>manifestation</a:t>
            </a:r>
            <a:r>
              <a:rPr lang="it-IT" sz="2400" dirty="0" smtClean="0">
                <a:ea typeface="+mn-ea"/>
                <a:cs typeface="+mn-cs"/>
              </a:rPr>
              <a:t> of </a:t>
            </a:r>
            <a:r>
              <a:rPr lang="it-IT" sz="2400" dirty="0" err="1" smtClean="0">
                <a:ea typeface="+mn-ea"/>
                <a:cs typeface="+mn-cs"/>
              </a:rPr>
              <a:t>potential</a:t>
            </a:r>
            <a:r>
              <a:rPr lang="it-IT" sz="2400" dirty="0" smtClean="0">
                <a:ea typeface="+mn-ea"/>
                <a:cs typeface="+mn-cs"/>
              </a:rPr>
              <a:t>, </a:t>
            </a:r>
            <a:r>
              <a:rPr lang="it-IT" sz="2400" dirty="0" err="1" smtClean="0">
                <a:ea typeface="+mn-ea"/>
                <a:cs typeface="+mn-cs"/>
              </a:rPr>
              <a:t>action</a:t>
            </a:r>
            <a:endParaRPr lang="it-IT" sz="2400" dirty="0">
              <a:ea typeface="+mn-ea"/>
              <a:cs typeface="+mn-cs"/>
            </a:endParaRPr>
          </a:p>
        </p:txBody>
      </p:sp>
      <p:grpSp>
        <p:nvGrpSpPr>
          <p:cNvPr id="10" name="Gruppo 9"/>
          <p:cNvGrpSpPr/>
          <p:nvPr/>
        </p:nvGrpSpPr>
        <p:grpSpPr>
          <a:xfrm>
            <a:off x="2060823" y="3470186"/>
            <a:ext cx="8121155" cy="2494893"/>
            <a:chOff x="2031312" y="3575513"/>
            <a:chExt cx="8121155" cy="2494893"/>
          </a:xfrm>
        </p:grpSpPr>
        <p:pic>
          <p:nvPicPr>
            <p:cNvPr id="11" name="Immagine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84" t="27167" r="32489" b="49407"/>
            <a:stretch/>
          </p:blipFill>
          <p:spPr>
            <a:xfrm>
              <a:off x="5241237" y="3575513"/>
              <a:ext cx="1705196" cy="1705196"/>
            </a:xfrm>
            <a:prstGeom prst="rect">
              <a:avLst/>
            </a:prstGeom>
            <a:solidFill>
              <a:srgbClr val="FFFFFF"/>
            </a:solidFill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</p:pic>
        <p:pic>
          <p:nvPicPr>
            <p:cNvPr id="13" name="Immagine 1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35" t="1042" r="15226" b="6450"/>
            <a:stretch/>
          </p:blipFill>
          <p:spPr>
            <a:xfrm>
              <a:off x="2031312" y="3575513"/>
              <a:ext cx="1709086" cy="1705196"/>
            </a:xfrm>
            <a:prstGeom prst="rect">
              <a:avLst/>
            </a:prstGeom>
            <a:solidFill>
              <a:srgbClr val="FFFFFF"/>
            </a:solidFill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</p:pic>
        <p:pic>
          <p:nvPicPr>
            <p:cNvPr id="17" name="Immagine 1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34"/>
            <a:stretch/>
          </p:blipFill>
          <p:spPr>
            <a:xfrm>
              <a:off x="8447272" y="3575513"/>
              <a:ext cx="1704974" cy="1705196"/>
            </a:xfrm>
            <a:prstGeom prst="rect">
              <a:avLst/>
            </a:prstGeom>
            <a:solidFill>
              <a:srgbClr val="FFFFFF"/>
            </a:solidFill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</p:pic>
        <p:cxnSp>
          <p:nvCxnSpPr>
            <p:cNvPr id="18" name="Connettore 2 17"/>
            <p:cNvCxnSpPr>
              <a:stCxn id="13" idx="3"/>
              <a:endCxn id="11" idx="1"/>
            </p:cNvCxnSpPr>
            <p:nvPr/>
          </p:nvCxnSpPr>
          <p:spPr>
            <a:xfrm>
              <a:off x="3740398" y="4428111"/>
              <a:ext cx="1500839" cy="0"/>
            </a:xfrm>
            <a:prstGeom prst="straightConnector1">
              <a:avLst/>
            </a:prstGeom>
            <a:ln w="25400" cap="rnd">
              <a:solidFill>
                <a:schemeClr val="tx2"/>
              </a:solidFill>
              <a:headEnd type="oval" w="sm" len="sm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/>
            <p:cNvCxnSpPr>
              <a:stCxn id="11" idx="3"/>
              <a:endCxn id="17" idx="1"/>
            </p:cNvCxnSpPr>
            <p:nvPr/>
          </p:nvCxnSpPr>
          <p:spPr>
            <a:xfrm>
              <a:off x="6946433" y="4428111"/>
              <a:ext cx="1500839" cy="0"/>
            </a:xfrm>
            <a:prstGeom prst="straightConnector1">
              <a:avLst/>
            </a:prstGeom>
            <a:ln w="25400" cap="rnd">
              <a:solidFill>
                <a:schemeClr val="tx2"/>
              </a:solidFill>
              <a:headEnd type="oval" w="sm" len="sm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egnaposto contenuto 2"/>
            <p:cNvSpPr txBox="1">
              <a:spLocks/>
            </p:cNvSpPr>
            <p:nvPr/>
          </p:nvSpPr>
          <p:spPr>
            <a:xfrm>
              <a:off x="2031313" y="5343608"/>
              <a:ext cx="1709086" cy="72679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∙"/>
                <a:defRPr sz="24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-"/>
                <a:defRPr sz="20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 err="1" smtClean="0"/>
                <a:t>Embryo</a:t>
              </a:r>
              <a:endParaRPr lang="it-IT" sz="1800" b="1" dirty="0"/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/>
                <a:t>(</a:t>
              </a:r>
              <a:r>
                <a:rPr lang="it-IT" sz="1800" b="1" dirty="0" smtClean="0"/>
                <a:t>state)</a:t>
              </a:r>
              <a:endParaRPr lang="it-IT" sz="1800" b="1" dirty="0"/>
            </a:p>
          </p:txBody>
        </p:sp>
        <p:sp>
          <p:nvSpPr>
            <p:cNvPr id="21" name="Segnaposto contenuto 2"/>
            <p:cNvSpPr txBox="1">
              <a:spLocks/>
            </p:cNvSpPr>
            <p:nvPr/>
          </p:nvSpPr>
          <p:spPr>
            <a:xfrm>
              <a:off x="5237347" y="5343608"/>
              <a:ext cx="1709086" cy="72679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∙"/>
                <a:defRPr sz="24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-"/>
                <a:defRPr sz="20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/>
                <a:t>Aristotele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/>
                <a:t>(</a:t>
              </a:r>
              <a:r>
                <a:rPr lang="it-IT" sz="1800" b="1" dirty="0" smtClean="0"/>
                <a:t>state)</a:t>
              </a:r>
              <a:endParaRPr lang="it-IT" sz="1800" b="1" dirty="0"/>
            </a:p>
          </p:txBody>
        </p:sp>
        <p:sp>
          <p:nvSpPr>
            <p:cNvPr id="22" name="Segnaposto contenuto 2"/>
            <p:cNvSpPr txBox="1">
              <a:spLocks/>
            </p:cNvSpPr>
            <p:nvPr/>
          </p:nvSpPr>
          <p:spPr>
            <a:xfrm>
              <a:off x="8443381" y="5343608"/>
              <a:ext cx="1709086" cy="72679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∙"/>
                <a:defRPr sz="24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-"/>
                <a:defRPr sz="20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/>
                <a:t>Humus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800" b="1" dirty="0"/>
                <a:t>(</a:t>
              </a:r>
              <a:r>
                <a:rPr lang="it-IT" sz="1800" b="1" dirty="0" smtClean="0"/>
                <a:t>state)</a:t>
              </a:r>
              <a:endParaRPr lang="it-IT" sz="1800" b="1" dirty="0"/>
            </a:p>
          </p:txBody>
        </p:sp>
        <p:sp>
          <p:nvSpPr>
            <p:cNvPr id="23" name="Segnaposto contenuto 2"/>
            <p:cNvSpPr txBox="1">
              <a:spLocks/>
            </p:cNvSpPr>
            <p:nvPr/>
          </p:nvSpPr>
          <p:spPr>
            <a:xfrm>
              <a:off x="4131358" y="3575513"/>
              <a:ext cx="718917" cy="170519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tx2"/>
              </a:solidFill>
            </a:ln>
            <a:effectLst/>
          </p:spPr>
          <p:txBody>
            <a:bodyPr vert="vert270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∙"/>
                <a:defRPr sz="24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-"/>
                <a:defRPr sz="20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600" b="1" dirty="0" err="1" smtClean="0"/>
                <a:t>Growth</a:t>
              </a:r>
              <a:endParaRPr lang="it-IT" sz="1600" b="1" dirty="0"/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600" b="1" dirty="0"/>
                <a:t>(</a:t>
              </a:r>
              <a:r>
                <a:rPr lang="it-IT" sz="1600" b="1" dirty="0" err="1" smtClean="0"/>
                <a:t>process</a:t>
              </a:r>
              <a:r>
                <a:rPr lang="it-IT" sz="1600" b="1" dirty="0" smtClean="0"/>
                <a:t>)</a:t>
              </a:r>
              <a:endParaRPr lang="it-IT" sz="1600" b="1" dirty="0"/>
            </a:p>
          </p:txBody>
        </p:sp>
        <p:sp>
          <p:nvSpPr>
            <p:cNvPr id="24" name="Segnaposto contenuto 2"/>
            <p:cNvSpPr txBox="1">
              <a:spLocks/>
            </p:cNvSpPr>
            <p:nvPr/>
          </p:nvSpPr>
          <p:spPr>
            <a:xfrm>
              <a:off x="7337393" y="3575513"/>
              <a:ext cx="718917" cy="170519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tx2"/>
              </a:solidFill>
            </a:ln>
            <a:effectLst/>
          </p:spPr>
          <p:txBody>
            <a:bodyPr vert="vert270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∙"/>
                <a:defRPr sz="24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Quicksand" pitchFamily="2" charset="0"/>
                <a:buChar char="-"/>
                <a:defRPr sz="20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Quicksand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600" b="1" dirty="0" err="1" smtClean="0"/>
                <a:t>Decomposition</a:t>
              </a:r>
              <a:endParaRPr lang="it-IT" sz="1600" b="1" dirty="0"/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it-IT" sz="1600" b="1" dirty="0"/>
                <a:t>(</a:t>
              </a:r>
              <a:r>
                <a:rPr lang="it-IT" sz="1600" b="1" dirty="0" err="1" smtClean="0"/>
                <a:t>process</a:t>
              </a:r>
              <a:r>
                <a:rPr lang="it-IT" sz="1600" b="1" dirty="0" smtClean="0"/>
                <a:t>)</a:t>
              </a:r>
              <a:endParaRPr lang="it-IT" sz="1600" b="1" dirty="0"/>
            </a:p>
          </p:txBody>
        </p:sp>
      </p:grpSp>
      <p:sp>
        <p:nvSpPr>
          <p:cNvPr id="25" name="Titolo 1"/>
          <p:cNvSpPr>
            <a:spLocks noGrp="1"/>
          </p:cNvSpPr>
          <p:nvPr>
            <p:ph type="title"/>
          </p:nvPr>
        </p:nvSpPr>
        <p:spPr>
          <a:xfrm>
            <a:off x="1159933" y="0"/>
            <a:ext cx="10363200" cy="914400"/>
          </a:xfrm>
        </p:spPr>
        <p:txBody>
          <a:bodyPr/>
          <a:lstStyle/>
          <a:p>
            <a:r>
              <a:rPr lang="it-IT" dirty="0" err="1" smtClean="0"/>
              <a:t>Models</a:t>
            </a:r>
            <a:r>
              <a:rPr lang="it-IT" dirty="0" smtClean="0"/>
              <a:t> and </a:t>
            </a:r>
            <a:r>
              <a:rPr lang="it-IT" dirty="0" err="1" smtClean="0"/>
              <a:t>systems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318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149791"/>
            <a:ext cx="6095997" cy="470173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sz="2800" b="1" dirty="0"/>
              <a:t>U: </a:t>
            </a:r>
            <a:r>
              <a:rPr lang="it-IT" sz="2800" dirty="0" err="1"/>
              <a:t>Universe</a:t>
            </a:r>
            <a:r>
              <a:rPr lang="it-IT" sz="2800" dirty="0"/>
              <a:t> of </a:t>
            </a:r>
            <a:r>
              <a:rPr lang="it-IT" sz="2800" dirty="0" err="1"/>
              <a:t>possibilities</a:t>
            </a:r>
            <a:endParaRPr lang="it-IT" sz="2800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sz="2800" b="1" dirty="0" smtClean="0"/>
              <a:t>C: </a:t>
            </a:r>
            <a:r>
              <a:rPr lang="it-IT" sz="2800" dirty="0" err="1"/>
              <a:t>Conceptual</a:t>
            </a:r>
            <a:r>
              <a:rPr lang="it-IT" sz="2800" dirty="0"/>
              <a:t> </a:t>
            </a:r>
            <a:r>
              <a:rPr lang="it-IT" sz="2800" dirty="0" err="1" smtClean="0"/>
              <a:t>space</a:t>
            </a:r>
            <a:endParaRPr lang="it-IT" sz="2800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sz="2800" b="1" dirty="0" smtClean="0"/>
              <a:t>R</a:t>
            </a:r>
            <a:r>
              <a:rPr lang="it-IT" sz="2800" b="1" dirty="0"/>
              <a:t>: </a:t>
            </a:r>
            <a:r>
              <a:rPr lang="it-IT" sz="2800" dirty="0" err="1"/>
              <a:t>Rules</a:t>
            </a:r>
            <a:r>
              <a:rPr lang="it-IT" sz="2800" dirty="0"/>
              <a:t> for C </a:t>
            </a:r>
            <a:r>
              <a:rPr lang="it-IT" sz="2800" dirty="0" err="1" smtClean="0"/>
              <a:t>boundaries</a:t>
            </a:r>
            <a:endParaRPr lang="it-IT" sz="2800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sz="2800" b="1" dirty="0" smtClean="0"/>
              <a:t>T</a:t>
            </a:r>
            <a:r>
              <a:rPr lang="it-IT" sz="2800" b="1" dirty="0"/>
              <a:t>: </a:t>
            </a:r>
            <a:r>
              <a:rPr lang="it-IT" sz="2800" dirty="0"/>
              <a:t>Exploration </a:t>
            </a:r>
            <a:r>
              <a:rPr lang="it-IT" sz="2800" dirty="0" err="1" smtClean="0"/>
              <a:t>strategy</a:t>
            </a:r>
            <a:endParaRPr lang="it-IT" sz="2800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it-IT" sz="2800" b="1" dirty="0" smtClean="0"/>
              <a:t>E</a:t>
            </a:r>
            <a:r>
              <a:rPr lang="it-IT" sz="2800" b="1" dirty="0"/>
              <a:t>: </a:t>
            </a:r>
            <a:r>
              <a:rPr lang="it-IT" sz="2800" dirty="0"/>
              <a:t>Evaluation </a:t>
            </a:r>
            <a:r>
              <a:rPr lang="it-IT" sz="2800" dirty="0" err="1" smtClean="0"/>
              <a:t>criteria</a:t>
            </a:r>
            <a:endParaRPr lang="it-IT" sz="2800" dirty="0" smtClean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800" dirty="0" smtClean="0"/>
              <a:t>Creative </a:t>
            </a:r>
            <a:r>
              <a:rPr lang="en-US" sz="2800" dirty="0"/>
              <a:t>action is a search in </a:t>
            </a:r>
            <a:r>
              <a:rPr lang="en-US" sz="2800" b="1" dirty="0"/>
              <a:t>C</a:t>
            </a:r>
            <a:r>
              <a:rPr lang="en-US" sz="2800" dirty="0"/>
              <a:t>, constrained by </a:t>
            </a:r>
            <a:r>
              <a:rPr lang="en-US" sz="2800" b="1" dirty="0"/>
              <a:t>R</a:t>
            </a:r>
            <a:r>
              <a:rPr lang="en-US" sz="2800" dirty="0"/>
              <a:t>, carried out using a strategy </a:t>
            </a:r>
            <a:r>
              <a:rPr lang="en-US" sz="2800" b="1" dirty="0"/>
              <a:t>T</a:t>
            </a:r>
            <a:r>
              <a:rPr lang="en-US" sz="2800" dirty="0"/>
              <a:t>, and evaluated using </a:t>
            </a:r>
            <a:r>
              <a:rPr lang="en-US" sz="2800" b="1" dirty="0"/>
              <a:t>E</a:t>
            </a:r>
            <a:r>
              <a:rPr lang="en-US" sz="2800" dirty="0"/>
              <a:t>.</a:t>
            </a:r>
            <a:endParaRPr lang="it-IT" sz="280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The creative </a:t>
            </a:r>
            <a:r>
              <a:rPr lang="it-IT" dirty="0" err="1" smtClean="0"/>
              <a:t>process</a:t>
            </a:r>
            <a:endParaRPr lang="it-IT" dirty="0"/>
          </a:p>
        </p:txBody>
      </p:sp>
      <p:sp>
        <p:nvSpPr>
          <p:cNvPr id="56" name="Rettangolo 55"/>
          <p:cNvSpPr/>
          <p:nvPr/>
        </p:nvSpPr>
        <p:spPr>
          <a:xfrm>
            <a:off x="5469401" y="5809434"/>
            <a:ext cx="13484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dirty="0" smtClean="0">
                <a:solidFill>
                  <a:schemeClr val="tx2"/>
                </a:solidFill>
              </a:rPr>
              <a:t>Margaret </a:t>
            </a:r>
            <a:r>
              <a:rPr lang="it-IT" sz="1200" dirty="0" err="1" smtClean="0">
                <a:solidFill>
                  <a:schemeClr val="tx2"/>
                </a:solidFill>
              </a:rPr>
              <a:t>Boden</a:t>
            </a:r>
            <a:endParaRPr lang="it-IT" sz="1200" dirty="0">
              <a:solidFill>
                <a:schemeClr val="tx2"/>
              </a:solidFill>
            </a:endParaRPr>
          </a:p>
        </p:txBody>
      </p:sp>
      <p:grpSp>
        <p:nvGrpSpPr>
          <p:cNvPr id="88" name="Gruppo 87"/>
          <p:cNvGrpSpPr/>
          <p:nvPr/>
        </p:nvGrpSpPr>
        <p:grpSpPr>
          <a:xfrm>
            <a:off x="7991475" y="2213176"/>
            <a:ext cx="2285999" cy="1571890"/>
            <a:chOff x="7991475" y="2348971"/>
            <a:chExt cx="2285999" cy="1571890"/>
          </a:xfrm>
        </p:grpSpPr>
        <p:sp>
          <p:nvSpPr>
            <p:cNvPr id="89" name="Ovale 88"/>
            <p:cNvSpPr/>
            <p:nvPr/>
          </p:nvSpPr>
          <p:spPr>
            <a:xfrm>
              <a:off x="8067675" y="2834746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0" name="Ovale 89"/>
            <p:cNvSpPr/>
            <p:nvPr/>
          </p:nvSpPr>
          <p:spPr>
            <a:xfrm>
              <a:off x="9134475" y="2348971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1" name="Ovale 90"/>
            <p:cNvSpPr/>
            <p:nvPr/>
          </p:nvSpPr>
          <p:spPr>
            <a:xfrm>
              <a:off x="8772525" y="3224212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2" name="Ovale 91"/>
            <p:cNvSpPr/>
            <p:nvPr/>
          </p:nvSpPr>
          <p:spPr>
            <a:xfrm>
              <a:off x="7991475" y="3693848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3" name="Ovale 92"/>
            <p:cNvSpPr/>
            <p:nvPr/>
          </p:nvSpPr>
          <p:spPr>
            <a:xfrm>
              <a:off x="9444037" y="3618177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4" name="Ovale 93"/>
            <p:cNvSpPr/>
            <p:nvPr/>
          </p:nvSpPr>
          <p:spPr>
            <a:xfrm>
              <a:off x="10125074" y="2691606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5" name="Ovale 94"/>
            <p:cNvSpPr/>
            <p:nvPr/>
          </p:nvSpPr>
          <p:spPr>
            <a:xfrm>
              <a:off x="10125074" y="3769519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6" name="Ovale 95"/>
            <p:cNvSpPr/>
            <p:nvPr/>
          </p:nvSpPr>
          <p:spPr>
            <a:xfrm>
              <a:off x="9491661" y="2903537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8A3AB9">
                    <a:lumMod val="110000"/>
                    <a:satMod val="105000"/>
                    <a:tint val="67000"/>
                  </a:srgbClr>
                </a:gs>
                <a:gs pos="50000">
                  <a:srgbClr val="8A3AB9">
                    <a:lumMod val="105000"/>
                    <a:satMod val="103000"/>
                    <a:tint val="73000"/>
                  </a:srgbClr>
                </a:gs>
                <a:gs pos="100000">
                  <a:srgbClr val="8A3AB9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8A3AB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</p:grpSp>
      <p:grpSp>
        <p:nvGrpSpPr>
          <p:cNvPr id="97" name="Gruppo 96"/>
          <p:cNvGrpSpPr/>
          <p:nvPr/>
        </p:nvGrpSpPr>
        <p:grpSpPr>
          <a:xfrm>
            <a:off x="6143624" y="1074938"/>
            <a:ext cx="3295651" cy="3399367"/>
            <a:chOff x="6143624" y="1210733"/>
            <a:chExt cx="3295651" cy="3399367"/>
          </a:xfrm>
        </p:grpSpPr>
        <p:sp>
          <p:nvSpPr>
            <p:cNvPr id="98" name="Ovale 97"/>
            <p:cNvSpPr/>
            <p:nvPr/>
          </p:nvSpPr>
          <p:spPr>
            <a:xfrm>
              <a:off x="7477123" y="1597290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99" name="Ovale 98"/>
            <p:cNvSpPr/>
            <p:nvPr/>
          </p:nvSpPr>
          <p:spPr>
            <a:xfrm>
              <a:off x="9286875" y="1210733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100" name="Ovale 99"/>
            <p:cNvSpPr/>
            <p:nvPr/>
          </p:nvSpPr>
          <p:spPr>
            <a:xfrm>
              <a:off x="8467723" y="1686983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101" name="Ovale 100"/>
            <p:cNvSpPr/>
            <p:nvPr/>
          </p:nvSpPr>
          <p:spPr>
            <a:xfrm>
              <a:off x="7324723" y="4458758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102" name="Ovale 101"/>
            <p:cNvSpPr/>
            <p:nvPr/>
          </p:nvSpPr>
          <p:spPr>
            <a:xfrm>
              <a:off x="6605586" y="2910417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103" name="Ovale 102"/>
            <p:cNvSpPr/>
            <p:nvPr/>
          </p:nvSpPr>
          <p:spPr>
            <a:xfrm>
              <a:off x="6143624" y="3845190"/>
              <a:ext cx="152400" cy="151342"/>
            </a:xfrm>
            <a:prstGeom prst="ellipse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</p:grpSp>
      <p:sp>
        <p:nvSpPr>
          <p:cNvPr id="104" name="Rettangolo 103"/>
          <p:cNvSpPr/>
          <p:nvPr/>
        </p:nvSpPr>
        <p:spPr>
          <a:xfrm>
            <a:off x="6746928" y="1051423"/>
            <a:ext cx="401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26C4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U</a:t>
            </a:r>
            <a:endParaRPr kumimoji="0" lang="it-IT" sz="1800" b="0" i="0" u="none" strike="noStrike" kern="0" cap="none" spc="0" normalizeH="0" baseline="0" noProof="0" dirty="0" smtClean="0">
              <a:ln>
                <a:noFill/>
              </a:ln>
              <a:solidFill>
                <a:srgbClr val="26C4F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grpSp>
        <p:nvGrpSpPr>
          <p:cNvPr id="105" name="Gruppo 104"/>
          <p:cNvGrpSpPr/>
          <p:nvPr/>
        </p:nvGrpSpPr>
        <p:grpSpPr>
          <a:xfrm>
            <a:off x="8015286" y="2546411"/>
            <a:ext cx="2314577" cy="1291573"/>
            <a:chOff x="8015286" y="2682206"/>
            <a:chExt cx="2314577" cy="1291573"/>
          </a:xfrm>
        </p:grpSpPr>
        <p:grpSp>
          <p:nvGrpSpPr>
            <p:cNvPr id="106" name="Gruppo 105"/>
            <p:cNvGrpSpPr/>
            <p:nvPr/>
          </p:nvGrpSpPr>
          <p:grpSpPr>
            <a:xfrm>
              <a:off x="8015286" y="2784207"/>
              <a:ext cx="2314577" cy="1189572"/>
              <a:chOff x="8015286" y="2784207"/>
              <a:chExt cx="2314577" cy="1189572"/>
            </a:xfrm>
          </p:grpSpPr>
          <p:sp>
            <p:nvSpPr>
              <p:cNvPr id="108" name="Ovale 107"/>
              <p:cNvSpPr/>
              <p:nvPr/>
            </p:nvSpPr>
            <p:spPr>
              <a:xfrm rot="20411938">
                <a:off x="8015286" y="2784207"/>
                <a:ext cx="257178" cy="257178"/>
              </a:xfrm>
              <a:prstGeom prst="ellips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ED3437"/>
                  </a:solidFill>
                  <a:effectLst/>
                  <a:uLnTx/>
                  <a:uFillTx/>
                  <a:latin typeface="Quicksand"/>
                  <a:ea typeface="+mn-ea"/>
                  <a:cs typeface="+mn-cs"/>
                </a:endParaRPr>
              </a:p>
            </p:txBody>
          </p:sp>
          <p:sp>
            <p:nvSpPr>
              <p:cNvPr id="109" name="Ovale 108"/>
              <p:cNvSpPr/>
              <p:nvPr/>
            </p:nvSpPr>
            <p:spPr>
              <a:xfrm rot="20755103">
                <a:off x="8720136" y="3171294"/>
                <a:ext cx="257178" cy="257178"/>
              </a:xfrm>
              <a:prstGeom prst="ellips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ED3437"/>
                  </a:solidFill>
                  <a:effectLst/>
                  <a:uLnTx/>
                  <a:uFillTx/>
                  <a:latin typeface="Quicksand"/>
                  <a:ea typeface="+mn-ea"/>
                  <a:cs typeface="+mn-cs"/>
                </a:endParaRPr>
              </a:p>
            </p:txBody>
          </p:sp>
          <p:sp>
            <p:nvSpPr>
              <p:cNvPr id="110" name="Ovale 109"/>
              <p:cNvSpPr/>
              <p:nvPr/>
            </p:nvSpPr>
            <p:spPr>
              <a:xfrm rot="828741">
                <a:off x="9439272" y="2850619"/>
                <a:ext cx="257178" cy="257178"/>
              </a:xfrm>
              <a:prstGeom prst="ellips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ED3437"/>
                  </a:solidFill>
                  <a:effectLst/>
                  <a:uLnTx/>
                  <a:uFillTx/>
                  <a:latin typeface="Quicksand"/>
                  <a:ea typeface="+mn-ea"/>
                  <a:cs typeface="+mn-cs"/>
                </a:endParaRPr>
              </a:p>
            </p:txBody>
          </p:sp>
          <p:sp>
            <p:nvSpPr>
              <p:cNvPr id="111" name="Ovale 110"/>
              <p:cNvSpPr/>
              <p:nvPr/>
            </p:nvSpPr>
            <p:spPr>
              <a:xfrm rot="397359">
                <a:off x="10072685" y="3716601"/>
                <a:ext cx="257178" cy="257178"/>
              </a:xfrm>
              <a:prstGeom prst="ellips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ED3437"/>
                  </a:solidFill>
                  <a:effectLst/>
                  <a:uLnTx/>
                  <a:uFillTx/>
                  <a:latin typeface="Quicksand"/>
                  <a:ea typeface="+mn-ea"/>
                  <a:cs typeface="+mn-cs"/>
                </a:endParaRPr>
              </a:p>
            </p:txBody>
          </p:sp>
          <p:cxnSp>
            <p:nvCxnSpPr>
              <p:cNvPr id="112" name="Connettore diritto 111"/>
              <p:cNvCxnSpPr>
                <a:stCxn id="108" idx="5"/>
                <a:endCxn id="109" idx="1"/>
              </p:cNvCxnSpPr>
              <p:nvPr/>
            </p:nvCxnSpPr>
            <p:spPr>
              <a:xfrm>
                <a:off x="8260227" y="2967544"/>
                <a:ext cx="478182" cy="266268"/>
              </a:xfrm>
              <a:prstGeom prst="lin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3" name="Connettore diritto 112"/>
              <p:cNvCxnSpPr>
                <a:stCxn id="109" idx="6"/>
                <a:endCxn id="110" idx="3"/>
              </p:cNvCxnSpPr>
              <p:nvPr/>
            </p:nvCxnSpPr>
            <p:spPr>
              <a:xfrm flipV="1">
                <a:off x="8973450" y="3045797"/>
                <a:ext cx="484406" cy="222800"/>
              </a:xfrm>
              <a:prstGeom prst="lin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4" name="Connettore diritto 113"/>
              <p:cNvCxnSpPr>
                <a:stCxn id="110" idx="5"/>
                <a:endCxn id="111" idx="1"/>
              </p:cNvCxnSpPr>
              <p:nvPr/>
            </p:nvCxnSpPr>
            <p:spPr>
              <a:xfrm>
                <a:off x="9634450" y="3089213"/>
                <a:ext cx="486991" cy="655171"/>
              </a:xfrm>
              <a:prstGeom prst="line">
                <a:avLst/>
              </a:prstGeom>
              <a:noFill/>
              <a:ln w="28575" cap="flat" cmpd="sng" algn="ctr">
                <a:solidFill>
                  <a:srgbClr val="ED3437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07" name="Rettangolo 106"/>
            <p:cNvSpPr/>
            <p:nvPr/>
          </p:nvSpPr>
          <p:spPr>
            <a:xfrm>
              <a:off x="8383648" y="2682206"/>
              <a:ext cx="3770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ED343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T</a:t>
              </a:r>
              <a:endParaRPr kumimoji="0" lang="it-IT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ED34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</p:grpSp>
      <p:grpSp>
        <p:nvGrpSpPr>
          <p:cNvPr id="115" name="Gruppo 114"/>
          <p:cNvGrpSpPr/>
          <p:nvPr/>
        </p:nvGrpSpPr>
        <p:grpSpPr>
          <a:xfrm>
            <a:off x="7067550" y="1246951"/>
            <a:ext cx="4133850" cy="3227354"/>
            <a:chOff x="7067550" y="1382746"/>
            <a:chExt cx="4133850" cy="3227354"/>
          </a:xfrm>
        </p:grpSpPr>
        <p:sp>
          <p:nvSpPr>
            <p:cNvPr id="116" name="Nuvola 115"/>
            <p:cNvSpPr/>
            <p:nvPr/>
          </p:nvSpPr>
          <p:spPr>
            <a:xfrm>
              <a:off x="7067550" y="1838325"/>
              <a:ext cx="4133850" cy="2771775"/>
            </a:xfrm>
            <a:prstGeom prst="cloud">
              <a:avLst/>
            </a:prstGeom>
            <a:noFill/>
            <a:ln w="28575" cap="flat" cmpd="sng" algn="ctr">
              <a:solidFill>
                <a:srgbClr val="8A3AB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smtClean="0">
                <a:ln>
                  <a:noFill/>
                </a:ln>
                <a:solidFill>
                  <a:srgbClr val="8A3AB9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117" name="Rettangolo 116"/>
            <p:cNvSpPr/>
            <p:nvPr/>
          </p:nvSpPr>
          <p:spPr>
            <a:xfrm>
              <a:off x="7766849" y="2074599"/>
              <a:ext cx="3770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3AB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C</a:t>
              </a:r>
              <a:endParaRPr kumimoji="0" lang="it-IT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8A3A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cxnSp>
          <p:nvCxnSpPr>
            <p:cNvPr id="118" name="Connettore 2 117"/>
            <p:cNvCxnSpPr/>
            <p:nvPr/>
          </p:nvCxnSpPr>
          <p:spPr>
            <a:xfrm flipV="1">
              <a:off x="10277474" y="1576123"/>
              <a:ext cx="304801" cy="595578"/>
            </a:xfrm>
            <a:prstGeom prst="straightConnector1">
              <a:avLst/>
            </a:prstGeom>
            <a:noFill/>
            <a:ln w="28575" cap="flat" cmpd="sng" algn="ctr">
              <a:solidFill>
                <a:srgbClr val="A3241C"/>
              </a:solidFill>
              <a:prstDash val="solid"/>
              <a:miter lim="800000"/>
              <a:headEnd type="triangle" w="lg" len="lg"/>
              <a:tailEnd type="triangle" w="lg" len="lg"/>
            </a:ln>
            <a:effectLst/>
          </p:spPr>
        </p:cxnSp>
        <p:sp>
          <p:nvSpPr>
            <p:cNvPr id="119" name="Rettangolo 118"/>
            <p:cNvSpPr/>
            <p:nvPr/>
          </p:nvSpPr>
          <p:spPr>
            <a:xfrm>
              <a:off x="10612744" y="1382746"/>
              <a:ext cx="39626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A3241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R</a:t>
              </a:r>
              <a:endParaRPr kumimoji="0" lang="it-IT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A324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</p:grpSp>
      <p:grpSp>
        <p:nvGrpSpPr>
          <p:cNvPr id="120" name="Gruppo 119"/>
          <p:cNvGrpSpPr/>
          <p:nvPr/>
        </p:nvGrpSpPr>
        <p:grpSpPr>
          <a:xfrm>
            <a:off x="9076623" y="4043752"/>
            <a:ext cx="3137836" cy="2029582"/>
            <a:chOff x="9076623" y="4179547"/>
            <a:chExt cx="3137836" cy="2029582"/>
          </a:xfrm>
        </p:grpSpPr>
        <p:sp>
          <p:nvSpPr>
            <p:cNvPr id="121" name="Rettangolo 120"/>
            <p:cNvSpPr/>
            <p:nvPr/>
          </p:nvSpPr>
          <p:spPr>
            <a:xfrm>
              <a:off x="9124948" y="5014847"/>
              <a:ext cx="360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97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E</a:t>
              </a:r>
              <a:endParaRPr kumimoji="0" lang="it-IT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97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</p:txBody>
        </p:sp>
        <p:pic>
          <p:nvPicPr>
            <p:cNvPr id="122" name="Immagine 121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558F9B"/>
                </a:clrFrom>
                <a:clrTo>
                  <a:srgbClr val="558F9B">
                    <a:alpha val="0"/>
                  </a:srgbClr>
                </a:clrTo>
              </a:clrChange>
              <a:duotone>
                <a:srgbClr val="FF970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19" r="14189"/>
            <a:stretch/>
          </p:blipFill>
          <p:spPr>
            <a:xfrm>
              <a:off x="9076623" y="4179547"/>
              <a:ext cx="3137836" cy="2029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735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emotional response to music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Brain </a:t>
            </a:r>
            <a:r>
              <a:rPr lang="it-IT" dirty="0" err="1"/>
              <a:t>stem</a:t>
            </a:r>
            <a:r>
              <a:rPr lang="it-IT" dirty="0"/>
              <a:t> reflex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Evaluative</a:t>
            </a:r>
            <a:r>
              <a:rPr lang="it-IT" dirty="0"/>
              <a:t> </a:t>
            </a:r>
            <a:r>
              <a:rPr lang="it-IT" dirty="0" err="1"/>
              <a:t>conditioning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Emotional</a:t>
            </a:r>
            <a:r>
              <a:rPr lang="it-IT" dirty="0"/>
              <a:t> </a:t>
            </a:r>
            <a:r>
              <a:rPr lang="it-IT" dirty="0" err="1"/>
              <a:t>contagion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Visual </a:t>
            </a:r>
            <a:r>
              <a:rPr lang="it-IT" dirty="0" err="1"/>
              <a:t>imagery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Episodic</a:t>
            </a:r>
            <a:r>
              <a:rPr lang="it-IT" dirty="0"/>
              <a:t> </a:t>
            </a:r>
            <a:r>
              <a:rPr lang="it-IT" dirty="0" err="1"/>
              <a:t>memory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b="1" dirty="0"/>
              <a:t>Musical </a:t>
            </a:r>
            <a:r>
              <a:rPr lang="it-IT" b="1" dirty="0" err="1"/>
              <a:t>expectancy</a:t>
            </a:r>
            <a:endParaRPr lang="it-IT" b="1" dirty="0"/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4294967295"/>
          </p:nvPr>
        </p:nvSpPr>
        <p:spPr>
          <a:xfrm>
            <a:off x="10458450" y="6356350"/>
            <a:ext cx="17335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9E35FD-D668-4B75-B19A-8368CAA0AF3D}" type="slidenum">
              <a:rPr kumimoji="0" lang="it-IT" sz="11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Quicksan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Quicksand" pitchFamily="2" charset="0"/>
              <a:ea typeface="+mn-ea"/>
              <a:cs typeface="+mn-cs"/>
            </a:endParaRPr>
          </a:p>
        </p:txBody>
      </p:sp>
      <p:sp>
        <p:nvSpPr>
          <p:cNvPr id="5" name="Segnaposto contenuto 2"/>
          <p:cNvSpPr txBox="1">
            <a:spLocks/>
          </p:cNvSpPr>
          <p:nvPr/>
        </p:nvSpPr>
        <p:spPr bwMode="auto">
          <a:xfrm>
            <a:off x="2393950" y="4656938"/>
            <a:ext cx="7772400" cy="1799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24242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424242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9pPr>
          </a:lstStyle>
          <a:p>
            <a:pPr marL="0" lvl="0" indent="0">
              <a:buNone/>
              <a:tabLst>
                <a:tab pos="4217988" algn="r"/>
                <a:tab pos="4478338" algn="l"/>
              </a:tabLst>
              <a:defRPr/>
            </a:pP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</a:t>
            </a:r>
            <a:r>
              <a:rPr lang="it-IT" kern="0" dirty="0" err="1"/>
              <a:t>Subjectivity</a:t>
            </a:r>
            <a:r>
              <a:rPr lang="it-IT" kern="0" dirty="0"/>
              <a:t>:	High</a:t>
            </a:r>
          </a:p>
          <a:p>
            <a:pPr marL="0" lvl="0" indent="0">
              <a:buNone/>
              <a:tabLst>
                <a:tab pos="4217988" algn="r"/>
                <a:tab pos="4478338" algn="l"/>
              </a:tabLst>
              <a:defRPr/>
            </a:pPr>
            <a:r>
              <a:rPr lang="it-IT" kern="0" dirty="0"/>
              <a:t>	</a:t>
            </a:r>
            <a:r>
              <a:rPr lang="it-IT" kern="0" dirty="0" err="1"/>
              <a:t>Possibility</a:t>
            </a:r>
            <a:r>
              <a:rPr lang="it-IT" kern="0" dirty="0"/>
              <a:t> of self-</a:t>
            </a:r>
            <a:r>
              <a:rPr lang="it-IT" kern="0" dirty="0" err="1"/>
              <a:t>regulation</a:t>
            </a:r>
            <a:r>
              <a:rPr lang="it-IT" kern="0" dirty="0"/>
              <a:t>:	</a:t>
            </a:r>
            <a:r>
              <a:rPr lang="it-IT" kern="0" dirty="0" err="1"/>
              <a:t>Low</a:t>
            </a:r>
            <a:endParaRPr lang="it-IT" kern="0" dirty="0"/>
          </a:p>
          <a:p>
            <a:pPr marL="0" lvl="0" indent="0">
              <a:buNone/>
              <a:tabLst>
                <a:tab pos="4217988" algn="r"/>
                <a:tab pos="4478338" algn="l"/>
              </a:tabLst>
              <a:defRPr/>
            </a:pPr>
            <a:r>
              <a:rPr lang="it-IT" kern="0" dirty="0"/>
              <a:t>	</a:t>
            </a:r>
            <a:r>
              <a:rPr lang="it-IT" kern="0" dirty="0" err="1"/>
              <a:t>Structure</a:t>
            </a:r>
            <a:r>
              <a:rPr lang="it-IT" kern="0" dirty="0"/>
              <a:t> </a:t>
            </a:r>
            <a:r>
              <a:rPr lang="it-IT" kern="0" dirty="0" err="1"/>
              <a:t>dependency</a:t>
            </a:r>
            <a:r>
              <a:rPr lang="it-IT" kern="0" dirty="0"/>
              <a:t>:	</a:t>
            </a:r>
            <a:r>
              <a:rPr lang="it-IT" kern="0" dirty="0" smtClean="0"/>
              <a:t>High</a:t>
            </a:r>
            <a:endParaRPr lang="it-IT" kern="0" dirty="0"/>
          </a:p>
          <a:p>
            <a:pPr marL="0" lvl="0" indent="0">
              <a:buNone/>
              <a:tabLst>
                <a:tab pos="4217988" algn="r"/>
                <a:tab pos="4478338" algn="l"/>
              </a:tabLst>
              <a:defRPr/>
            </a:pPr>
            <a:r>
              <a:rPr lang="it-IT" kern="0" dirty="0"/>
              <a:t>	Timbre </a:t>
            </a:r>
            <a:r>
              <a:rPr lang="it-IT" kern="0" dirty="0" err="1" smtClean="0"/>
              <a:t>dependency</a:t>
            </a:r>
            <a:r>
              <a:rPr lang="it-IT" kern="0" dirty="0" smtClean="0"/>
              <a:t>:</a:t>
            </a:r>
            <a:r>
              <a:rPr lang="it-IT" kern="0" dirty="0"/>
              <a:t>	</a:t>
            </a:r>
            <a:r>
              <a:rPr lang="it-IT" kern="0" dirty="0" err="1" smtClean="0"/>
              <a:t>Low</a:t>
            </a:r>
            <a:endParaRPr lang="it-IT" kern="0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3" t="8389" r="7186" b="13187"/>
          <a:stretch/>
        </p:blipFill>
        <p:spPr>
          <a:xfrm>
            <a:off x="6815138" y="2097157"/>
            <a:ext cx="4936045" cy="1479504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8354291" y="5106253"/>
            <a:ext cx="3399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Creating and resolving tension according to (cultural dependent) music rules.</a:t>
            </a:r>
            <a:endParaRPr lang="it-IT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602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1952: Pennelli elettronici</a:t>
            </a:r>
            <a:endParaRPr lang="it-IT" dirty="0"/>
          </a:p>
        </p:txBody>
      </p:sp>
      <p:sp>
        <p:nvSpPr>
          <p:cNvPr id="7" name="Segnaposto contenuto 6"/>
          <p:cNvSpPr>
            <a:spLocks noGrp="1"/>
          </p:cNvSpPr>
          <p:nvPr>
            <p:ph idx="1"/>
          </p:nvPr>
        </p:nvSpPr>
        <p:spPr>
          <a:xfrm>
            <a:off x="711200" y="1333500"/>
            <a:ext cx="5784850" cy="53003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i="1" dirty="0" err="1" smtClean="0"/>
              <a:t>Oscillon</a:t>
            </a:r>
            <a:r>
              <a:rPr lang="it-IT" i="1" dirty="0" smtClean="0"/>
              <a:t> </a:t>
            </a:r>
            <a:r>
              <a:rPr lang="it-IT" i="1" dirty="0"/>
              <a:t>40</a:t>
            </a:r>
            <a:r>
              <a:rPr lang="it-IT" dirty="0"/>
              <a:t>, Ben </a:t>
            </a:r>
            <a:r>
              <a:rPr lang="it-IT" dirty="0" err="1" smtClean="0"/>
              <a:t>Laposky</a:t>
            </a:r>
            <a:r>
              <a:rPr lang="it-IT" dirty="0"/>
              <a:t>, </a:t>
            </a:r>
            <a:r>
              <a:rPr lang="it-IT" dirty="0" smtClean="0"/>
              <a:t>1952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en-US" dirty="0"/>
              <a:t>Mathematician and artist, he uses oscilloscopes to create </a:t>
            </a:r>
            <a:r>
              <a:rPr lang="en-US" i="1" dirty="0"/>
              <a:t>abstract</a:t>
            </a:r>
            <a:r>
              <a:rPr lang="en-US" dirty="0"/>
              <a:t> photographs</a:t>
            </a:r>
            <a:endParaRPr lang="it-IT" sz="2400" i="1" dirty="0"/>
          </a:p>
          <a:p>
            <a:pPr marL="0" indent="0">
              <a:buNone/>
            </a:pPr>
            <a:endParaRPr lang="it-IT" sz="2400" i="1" dirty="0" smtClean="0"/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endParaRPr lang="it-IT" sz="2400" i="1" dirty="0" smtClean="0"/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endParaRPr lang="it-IT" sz="2400" i="1" dirty="0" smtClean="0"/>
          </a:p>
          <a:p>
            <a:pPr marL="0" indent="0">
              <a:buNone/>
            </a:pPr>
            <a:endParaRPr lang="it-IT" sz="1100" i="1" dirty="0" smtClean="0">
              <a:hlinkClick r:id=""/>
            </a:endParaRPr>
          </a:p>
          <a:p>
            <a:pPr marL="0" indent="0">
              <a:buNone/>
            </a:pPr>
            <a:endParaRPr lang="it-IT" sz="1100" i="1" dirty="0" smtClean="0">
              <a:hlinkClick r:id=""/>
            </a:endParaRPr>
          </a:p>
          <a:p>
            <a:pPr marL="0" indent="0">
              <a:buNone/>
            </a:pPr>
            <a:endParaRPr lang="it-IT" sz="1100" i="1" dirty="0">
              <a:hlinkClick r:id="rId2"/>
            </a:endParaRPr>
          </a:p>
          <a:p>
            <a:pPr marL="0" indent="0">
              <a:buNone/>
            </a:pPr>
            <a:r>
              <a:rPr lang="it-IT" sz="1100" i="1" dirty="0" smtClean="0">
                <a:hlinkClick r:id="rId2"/>
              </a:rPr>
              <a:t>https</a:t>
            </a:r>
            <a:r>
              <a:rPr lang="it-IT" sz="1100" i="1" dirty="0">
                <a:hlinkClick r:id="rId2"/>
              </a:rPr>
              <a:t>://</a:t>
            </a:r>
            <a:r>
              <a:rPr lang="it-IT" sz="1100" i="1" dirty="0" smtClean="0">
                <a:hlinkClick r:id="rId2"/>
              </a:rPr>
              <a:t>youtube.com/playlist?list=PLnEcguYneyFmwz3u-tPwk-VO7FGGkz_p5</a:t>
            </a:r>
            <a:endParaRPr lang="it-IT" sz="1100" i="1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186" y="0"/>
            <a:ext cx="5480050" cy="6858000"/>
          </a:xfrm>
          <a:prstGeom prst="rect">
            <a:avLst/>
          </a:prstGeom>
        </p:spPr>
      </p:pic>
      <p:pic>
        <p:nvPicPr>
          <p:cNvPr id="1028" name="Picture 4" descr="Ben F. Laposk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460" y="3207656"/>
            <a:ext cx="2100945" cy="28012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ccia ad arco 8"/>
          <p:cNvSpPr/>
          <p:nvPr/>
        </p:nvSpPr>
        <p:spPr>
          <a:xfrm>
            <a:off x="5394902" y="0"/>
            <a:ext cx="1436060" cy="1181158"/>
          </a:xfrm>
          <a:prstGeom prst="circularArrow">
            <a:avLst>
              <a:gd name="adj1" fmla="val 11501"/>
              <a:gd name="adj2" fmla="val 1121039"/>
              <a:gd name="adj3" fmla="val 19914001"/>
              <a:gd name="adj4" fmla="val 12488300"/>
              <a:gd name="adj5" fmla="val 1356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Non visto a lezione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80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Long Short-</a:t>
            </a:r>
            <a:r>
              <a:rPr lang="it-IT" dirty="0" err="1" smtClean="0"/>
              <a:t>Term</a:t>
            </a:r>
            <a:r>
              <a:rPr lang="it-IT" dirty="0" smtClean="0"/>
              <a:t> </a:t>
            </a:r>
            <a:r>
              <a:rPr lang="it-IT" dirty="0"/>
              <a:t>Memory </a:t>
            </a:r>
            <a:r>
              <a:rPr lang="it-IT" dirty="0" err="1" smtClean="0"/>
              <a:t>Layers</a:t>
            </a:r>
            <a:r>
              <a:rPr lang="it-IT" dirty="0" smtClean="0"/>
              <a:t> (LSTM)</a:t>
            </a:r>
            <a:endParaRPr lang="it-IT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69" y="1378903"/>
            <a:ext cx="7776472" cy="4145405"/>
          </a:xfrm>
          <a:prstGeom prst="rect">
            <a:avLst/>
          </a:prstGeom>
        </p:spPr>
      </p:pic>
      <p:pic>
        <p:nvPicPr>
          <p:cNvPr id="9220" name="Picture 4" descr="Multiple Time Series Forecasting With LSTM In Python | Forecastegy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" t="9867" r="3554" b="11839"/>
          <a:stretch/>
        </p:blipFill>
        <p:spPr bwMode="auto">
          <a:xfrm>
            <a:off x="7935107" y="1146433"/>
            <a:ext cx="3588026" cy="16916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/>
          <p:cNvSpPr txBox="1"/>
          <p:nvPr/>
        </p:nvSpPr>
        <p:spPr>
          <a:xfrm>
            <a:off x="8228335" y="3070073"/>
            <a:ext cx="37586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>
                <a:latin typeface="+mn-lt"/>
              </a:rPr>
              <a:t>Typical</a:t>
            </a:r>
            <a:r>
              <a:rPr lang="it-IT" sz="2000" dirty="0" smtClean="0">
                <a:latin typeface="+mn-lt"/>
              </a:rPr>
              <a:t> use:</a:t>
            </a:r>
          </a:p>
          <a:p>
            <a:r>
              <a:rPr lang="it-IT" sz="2000" dirty="0">
                <a:latin typeface="+mn-lt"/>
              </a:rPr>
              <a:t>Time </a:t>
            </a:r>
            <a:r>
              <a:rPr lang="it-IT" sz="2000" dirty="0" err="1">
                <a:latin typeface="+mn-lt"/>
              </a:rPr>
              <a:t>series</a:t>
            </a:r>
            <a:r>
              <a:rPr lang="it-IT" sz="2000" dirty="0">
                <a:latin typeface="+mn-lt"/>
              </a:rPr>
              <a:t> </a:t>
            </a:r>
            <a:r>
              <a:rPr lang="it-IT" sz="2000" dirty="0" err="1" smtClean="0">
                <a:latin typeface="+mn-lt"/>
              </a:rPr>
              <a:t>prediction</a:t>
            </a:r>
            <a:endParaRPr lang="it-IT" sz="2000" dirty="0" smtClean="0">
              <a:latin typeface="+mn-lt"/>
            </a:endParaRPr>
          </a:p>
          <a:p>
            <a:r>
              <a:rPr lang="en-US" sz="2000" dirty="0">
                <a:latin typeface="+mn-lt"/>
              </a:rPr>
              <a:t>Speech </a:t>
            </a:r>
            <a:r>
              <a:rPr lang="en-US" sz="2000" dirty="0" smtClean="0">
                <a:latin typeface="+mn-lt"/>
              </a:rPr>
              <a:t>recognition</a:t>
            </a:r>
          </a:p>
          <a:p>
            <a:r>
              <a:rPr lang="en-US" sz="2000" dirty="0" smtClean="0">
                <a:latin typeface="+mn-lt"/>
              </a:rPr>
              <a:t>Rhythm learning</a:t>
            </a:r>
          </a:p>
          <a:p>
            <a:r>
              <a:rPr lang="it-IT" sz="2000" dirty="0">
                <a:latin typeface="+mn-lt"/>
              </a:rPr>
              <a:t>Music </a:t>
            </a:r>
            <a:r>
              <a:rPr lang="it-IT" sz="2000" dirty="0" err="1" smtClean="0">
                <a:latin typeface="+mn-lt"/>
              </a:rPr>
              <a:t>composition</a:t>
            </a:r>
            <a:endParaRPr lang="it-IT" sz="2000" dirty="0" smtClean="0">
              <a:latin typeface="+mn-lt"/>
            </a:endParaRPr>
          </a:p>
          <a:p>
            <a:r>
              <a:rPr lang="it-IT" sz="2000" dirty="0" smtClean="0">
                <a:latin typeface="+mn-lt"/>
              </a:rPr>
              <a:t>Natural </a:t>
            </a:r>
            <a:r>
              <a:rPr lang="it-IT" sz="2000" dirty="0" err="1" smtClean="0">
                <a:latin typeface="+mn-lt"/>
              </a:rPr>
              <a:t>language</a:t>
            </a:r>
            <a:r>
              <a:rPr lang="it-IT" sz="2000" dirty="0" smtClean="0">
                <a:latin typeface="+mn-lt"/>
              </a:rPr>
              <a:t> processing</a:t>
            </a:r>
            <a:endParaRPr lang="it-IT" sz="2000" dirty="0">
              <a:latin typeface="+mn-lt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1359845" y="1668617"/>
            <a:ext cx="6543422" cy="2735320"/>
            <a:chOff x="1359845" y="1668617"/>
            <a:chExt cx="6543422" cy="2735320"/>
          </a:xfrm>
        </p:grpSpPr>
        <p:sp>
          <p:nvSpPr>
            <p:cNvPr id="2" name="Ovale 1"/>
            <p:cNvSpPr/>
            <p:nvPr/>
          </p:nvSpPr>
          <p:spPr>
            <a:xfrm>
              <a:off x="2722141" y="1668618"/>
              <a:ext cx="728425" cy="647235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Ovale 7"/>
            <p:cNvSpPr/>
            <p:nvPr/>
          </p:nvSpPr>
          <p:spPr>
            <a:xfrm>
              <a:off x="2486352" y="2949228"/>
              <a:ext cx="964214" cy="880900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Ovale 8"/>
            <p:cNvSpPr/>
            <p:nvPr/>
          </p:nvSpPr>
          <p:spPr>
            <a:xfrm>
              <a:off x="3666160" y="2648309"/>
              <a:ext cx="1906503" cy="1319841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Ovale 9"/>
            <p:cNvSpPr/>
            <p:nvPr/>
          </p:nvSpPr>
          <p:spPr>
            <a:xfrm>
              <a:off x="4694714" y="1668617"/>
              <a:ext cx="728425" cy="647235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Ovale 10"/>
            <p:cNvSpPr/>
            <p:nvPr/>
          </p:nvSpPr>
          <p:spPr>
            <a:xfrm>
              <a:off x="5661247" y="2013673"/>
              <a:ext cx="1006040" cy="1954477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" name="CasellaDiTesto 3"/>
            <p:cNvSpPr txBox="1"/>
            <p:nvPr/>
          </p:nvSpPr>
          <p:spPr>
            <a:xfrm>
              <a:off x="3443942" y="1715235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forget</a:t>
              </a:r>
              <a:endParaRPr lang="it-IT" sz="12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5358797" y="1673107"/>
              <a:ext cx="9380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remember</a:t>
              </a:r>
              <a:endParaRPr lang="it-IT" sz="12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" name="CasellaDiTesto 12"/>
            <p:cNvSpPr txBox="1"/>
            <p:nvPr/>
          </p:nvSpPr>
          <p:spPr>
            <a:xfrm>
              <a:off x="1359845" y="3077396"/>
              <a:ext cx="1126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choose</a:t>
              </a:r>
              <a:r>
                <a:rPr lang="it-IT" sz="1200" dirty="0" smtClean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what</a:t>
              </a:r>
              <a:r>
                <a:rPr lang="it-IT" sz="1200" dirty="0" smtClean="0">
                  <a:solidFill>
                    <a:srgbClr val="FF0000"/>
                  </a:solidFill>
                  <a:latin typeface="+mn-lt"/>
                </a:rPr>
                <a:t> to </a:t>
              </a:r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forget</a:t>
              </a:r>
              <a:endParaRPr lang="it-IT" sz="12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>
              <a:off x="4057973" y="3942272"/>
              <a:ext cx="11944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choose</a:t>
              </a:r>
              <a:r>
                <a:rPr lang="it-IT" sz="1200" dirty="0" smtClean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what</a:t>
              </a:r>
              <a:r>
                <a:rPr lang="it-IT" sz="1200" dirty="0" smtClean="0">
                  <a:solidFill>
                    <a:srgbClr val="FF0000"/>
                  </a:solidFill>
                  <a:latin typeface="+mn-lt"/>
                </a:rPr>
                <a:t> to </a:t>
              </a:r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remember</a:t>
              </a:r>
              <a:endParaRPr lang="it-IT" sz="12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6776760" y="3077396"/>
              <a:ext cx="1126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Actual</a:t>
              </a:r>
              <a:r>
                <a:rPr lang="it-IT" sz="1200" dirty="0" smtClean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it-IT" sz="1200" dirty="0" err="1" smtClean="0">
                  <a:solidFill>
                    <a:srgbClr val="FF0000"/>
                  </a:solidFill>
                  <a:latin typeface="+mn-lt"/>
                </a:rPr>
                <a:t>inference</a:t>
              </a:r>
              <a:endParaRPr lang="it-IT" sz="1200" dirty="0">
                <a:solidFill>
                  <a:srgbClr val="FF000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81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Artificial</a:t>
            </a:r>
            <a:r>
              <a:rPr lang="it-IT" dirty="0"/>
              <a:t> </a:t>
            </a:r>
            <a:r>
              <a:rPr lang="it-IT" dirty="0" err="1"/>
              <a:t>Neural</a:t>
            </a:r>
            <a:r>
              <a:rPr lang="it-IT" dirty="0"/>
              <a:t> Networks</a:t>
            </a:r>
            <a:r>
              <a:rPr lang="it-IT" dirty="0" smtClean="0"/>
              <a:t>: </a:t>
            </a:r>
            <a:r>
              <a:rPr lang="it-IT" dirty="0" err="1" smtClean="0"/>
              <a:t>where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creativity</a:t>
            </a:r>
            <a:r>
              <a:rPr lang="it-IT" dirty="0" smtClean="0"/>
              <a:t>?</a:t>
            </a:r>
            <a:endParaRPr lang="it-IT" dirty="0"/>
          </a:p>
        </p:txBody>
      </p:sp>
      <p:sp>
        <p:nvSpPr>
          <p:cNvPr id="22" name="CasellaDiTesto 21"/>
          <p:cNvSpPr txBox="1"/>
          <p:nvPr/>
        </p:nvSpPr>
        <p:spPr>
          <a:xfrm>
            <a:off x="4295310" y="1998904"/>
            <a:ext cx="1913220" cy="830567"/>
          </a:xfrm>
          <a:prstGeom prst="rect">
            <a:avLst/>
          </a:prstGeom>
          <a:gradFill rotWithShape="1">
            <a:gsLst>
              <a:gs pos="0">
                <a:srgbClr val="26C4F1">
                  <a:lumMod val="110000"/>
                  <a:satMod val="105000"/>
                  <a:tint val="67000"/>
                </a:srgbClr>
              </a:gs>
              <a:gs pos="50000">
                <a:srgbClr val="26C4F1">
                  <a:lumMod val="105000"/>
                  <a:satMod val="103000"/>
                  <a:tint val="73000"/>
                </a:srgbClr>
              </a:gs>
              <a:gs pos="100000">
                <a:srgbClr val="26C4F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26C4F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rPr>
              <a:t>Generative AI architecture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Quicksand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uppo 22"/>
          <p:cNvGrpSpPr/>
          <p:nvPr/>
        </p:nvGrpSpPr>
        <p:grpSpPr>
          <a:xfrm>
            <a:off x="1696584" y="1998904"/>
            <a:ext cx="9709399" cy="830568"/>
            <a:chOff x="1731089" y="1974904"/>
            <a:chExt cx="9709399" cy="830568"/>
          </a:xfrm>
        </p:grpSpPr>
        <p:sp>
          <p:nvSpPr>
            <p:cNvPr id="24" name="CasellaDiTesto 23"/>
            <p:cNvSpPr txBox="1"/>
            <p:nvPr/>
          </p:nvSpPr>
          <p:spPr>
            <a:xfrm>
              <a:off x="1731089" y="1974905"/>
              <a:ext cx="1913220" cy="830567"/>
            </a:xfrm>
            <a:prstGeom prst="rect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Training data</a:t>
              </a:r>
              <a:endPara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CasellaDiTesto 24"/>
            <p:cNvSpPr txBox="1"/>
            <p:nvPr/>
          </p:nvSpPr>
          <p:spPr>
            <a:xfrm>
              <a:off x="6928542" y="1974904"/>
              <a:ext cx="1913220" cy="830567"/>
            </a:xfrm>
            <a:prstGeom prst="rect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Conditioning</a:t>
              </a:r>
              <a:endPara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6" name="Connettore 2 25"/>
            <p:cNvCxnSpPr>
              <a:stCxn id="24" idx="3"/>
              <a:endCxn id="22" idx="1"/>
            </p:cNvCxnSpPr>
            <p:nvPr/>
          </p:nvCxnSpPr>
          <p:spPr>
            <a:xfrm flipV="1">
              <a:off x="3644309" y="2390188"/>
              <a:ext cx="685506" cy="1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7" name="Connettore 2 26"/>
            <p:cNvCxnSpPr>
              <a:stCxn id="22" idx="3"/>
              <a:endCxn id="25" idx="1"/>
            </p:cNvCxnSpPr>
            <p:nvPr/>
          </p:nvCxnSpPr>
          <p:spPr>
            <a:xfrm>
              <a:off x="6243035" y="2390188"/>
              <a:ext cx="685507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28" name="CasellaDiTesto 27"/>
            <p:cNvSpPr txBox="1"/>
            <p:nvPr/>
          </p:nvSpPr>
          <p:spPr>
            <a:xfrm>
              <a:off x="9527268" y="1974904"/>
              <a:ext cx="1913220" cy="830567"/>
            </a:xfrm>
            <a:prstGeom prst="rect">
              <a:avLst/>
            </a:prstGeom>
            <a:gradFill rotWithShape="1">
              <a:gsLst>
                <a:gs pos="0">
                  <a:srgbClr val="26C4F1">
                    <a:lumMod val="110000"/>
                    <a:satMod val="105000"/>
                    <a:tint val="67000"/>
                  </a:srgbClr>
                </a:gs>
                <a:gs pos="50000">
                  <a:srgbClr val="26C4F1">
                    <a:lumMod val="105000"/>
                    <a:satMod val="103000"/>
                    <a:tint val="73000"/>
                  </a:srgbClr>
                </a:gs>
                <a:gs pos="100000">
                  <a:srgbClr val="26C4F1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6C4F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Post-Processing</a:t>
              </a:r>
              <a:endPara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9" name="Connettore 2 28"/>
            <p:cNvCxnSpPr>
              <a:stCxn id="25" idx="3"/>
              <a:endCxn id="28" idx="1"/>
            </p:cNvCxnSpPr>
            <p:nvPr/>
          </p:nvCxnSpPr>
          <p:spPr>
            <a:xfrm>
              <a:off x="8841762" y="2390188"/>
              <a:ext cx="685506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30" name="Gruppo 29"/>
          <p:cNvGrpSpPr/>
          <p:nvPr/>
        </p:nvGrpSpPr>
        <p:grpSpPr>
          <a:xfrm>
            <a:off x="499838" y="2829471"/>
            <a:ext cx="11096625" cy="2366603"/>
            <a:chOff x="534343" y="2805471"/>
            <a:chExt cx="11096625" cy="2366603"/>
          </a:xfrm>
        </p:grpSpPr>
        <p:sp>
          <p:nvSpPr>
            <p:cNvPr id="31" name="CasellaDiTesto 30"/>
            <p:cNvSpPr txBox="1"/>
            <p:nvPr/>
          </p:nvSpPr>
          <p:spPr>
            <a:xfrm>
              <a:off x="534343" y="3486149"/>
              <a:ext cx="11096625" cy="1685925"/>
            </a:xfrm>
            <a:prstGeom prst="rect">
              <a:avLst/>
            </a:prstGeom>
            <a:gradFill rotWithShape="1">
              <a:gsLst>
                <a:gs pos="0">
                  <a:srgbClr val="21EAB0">
                    <a:lumMod val="110000"/>
                    <a:satMod val="105000"/>
                    <a:tint val="67000"/>
                  </a:srgbClr>
                </a:gs>
                <a:gs pos="50000">
                  <a:srgbClr val="21EAB0">
                    <a:lumMod val="105000"/>
                    <a:satMod val="103000"/>
                    <a:tint val="73000"/>
                  </a:srgbClr>
                </a:gs>
                <a:gs pos="100000">
                  <a:srgbClr val="21EAB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21EAB0"/>
              </a:solidFill>
              <a:prstDash val="solid"/>
              <a:miter lim="800000"/>
            </a:ln>
            <a:effectLst/>
          </p:spPr>
          <p:txBody>
            <a:bodyPr vert="vert270" wrap="square" rtlCol="0">
              <a:noAutofit/>
            </a:bodyPr>
            <a:lstStyle/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srgbClr val="262626"/>
                  </a:solidFill>
                  <a:latin typeface="Quicksand"/>
                </a:rPr>
                <a:t>Arbitrary</a:t>
              </a:r>
              <a:r>
                <a:rPr lang="en-US" sz="1800" kern="0" dirty="0">
                  <a:solidFill>
                    <a:srgbClr val="262626"/>
                  </a:solidFill>
                  <a:latin typeface="Quicksand"/>
                </a:rPr>
                <a:t> </a:t>
              </a:r>
              <a:r>
                <a:rPr lang="en-US" sz="1800" b="1" kern="0" dirty="0">
                  <a:solidFill>
                    <a:srgbClr val="262626"/>
                  </a:solidFill>
                  <a:latin typeface="Quicksand"/>
                </a:rPr>
                <a:t>choices </a:t>
              </a:r>
              <a:r>
                <a:rPr lang="en-US" sz="1800" b="1" kern="0" dirty="0" smtClean="0">
                  <a:solidFill>
                    <a:srgbClr val="262626"/>
                  </a:solidFill>
                  <a:latin typeface="Quicksand"/>
                </a:rPr>
                <a:t>by</a:t>
              </a:r>
              <a:br>
                <a:rPr lang="en-US" sz="1800" b="1" kern="0" dirty="0" smtClean="0">
                  <a:solidFill>
                    <a:srgbClr val="262626"/>
                  </a:solidFill>
                  <a:latin typeface="Quicksand"/>
                </a:rPr>
              </a:br>
              <a:r>
                <a:rPr lang="en-US" sz="1800" b="1" kern="0" dirty="0" smtClean="0">
                  <a:solidFill>
                    <a:srgbClr val="262626"/>
                  </a:solidFill>
                  <a:latin typeface="Quicksand"/>
                </a:rPr>
                <a:t>the </a:t>
              </a:r>
              <a:r>
                <a:rPr lang="en-US" sz="1800" b="1" kern="0" dirty="0">
                  <a:solidFill>
                    <a:srgbClr val="262626"/>
                  </a:solidFill>
                  <a:latin typeface="Quicksand"/>
                </a:rPr>
                <a:t>artist</a:t>
              </a:r>
              <a:endPara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</a:endParaRPr>
            </a:p>
          </p:txBody>
        </p:sp>
        <p:sp>
          <p:nvSpPr>
            <p:cNvPr id="32" name="CasellaDiTesto 31"/>
            <p:cNvSpPr txBox="1"/>
            <p:nvPr/>
          </p:nvSpPr>
          <p:spPr>
            <a:xfrm>
              <a:off x="1722029" y="3710929"/>
              <a:ext cx="1913220" cy="1245851"/>
            </a:xfrm>
            <a:prstGeom prst="rect">
              <a:avLst/>
            </a:prstGeom>
            <a:gradFill rotWithShape="1">
              <a:gsLst>
                <a:gs pos="0">
                  <a:srgbClr val="FF9700">
                    <a:lumMod val="110000"/>
                    <a:satMod val="105000"/>
                    <a:tint val="67000"/>
                  </a:srgbClr>
                </a:gs>
                <a:gs pos="50000">
                  <a:srgbClr val="FF9700">
                    <a:lumMod val="105000"/>
                    <a:satMod val="103000"/>
                    <a:tint val="73000"/>
                  </a:srgbClr>
                </a:gs>
                <a:gs pos="100000">
                  <a:srgbClr val="FF97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97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 smtClean="0">
                  <a:solidFill>
                    <a:srgbClr val="262626"/>
                  </a:solidFill>
                  <a:latin typeface="Quicksand"/>
                </a:rPr>
                <a:t>Data creation </a:t>
              </a:r>
              <a:r>
                <a:rPr lang="en-US" sz="1800" kern="0" dirty="0">
                  <a:solidFill>
                    <a:srgbClr val="262626"/>
                  </a:solidFill>
                  <a:latin typeface="Quicksand"/>
                </a:rPr>
                <a:t>and </a:t>
              </a:r>
              <a:r>
                <a:rPr lang="en-US" sz="1800" kern="0" dirty="0" smtClean="0">
                  <a:solidFill>
                    <a:srgbClr val="262626"/>
                  </a:solidFill>
                  <a:latin typeface="Quicksand"/>
                </a:rPr>
                <a:t>selection</a:t>
              </a:r>
              <a:endParaRPr kumimoji="0" lang="it-IT" sz="18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4320756" y="3710929"/>
              <a:ext cx="1913220" cy="1245851"/>
            </a:xfrm>
            <a:prstGeom prst="rect">
              <a:avLst/>
            </a:prstGeom>
            <a:gradFill rotWithShape="1">
              <a:gsLst>
                <a:gs pos="0">
                  <a:srgbClr val="FF9700">
                    <a:lumMod val="110000"/>
                    <a:satMod val="105000"/>
                    <a:tint val="67000"/>
                  </a:srgbClr>
                </a:gs>
                <a:gs pos="50000">
                  <a:srgbClr val="FF9700">
                    <a:lumMod val="105000"/>
                    <a:satMod val="103000"/>
                    <a:tint val="73000"/>
                  </a:srgbClr>
                </a:gs>
                <a:gs pos="100000">
                  <a:srgbClr val="FF97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97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800" kern="0" dirty="0">
                  <a:solidFill>
                    <a:srgbClr val="262626"/>
                  </a:solidFill>
                  <a:latin typeface="Quicksand"/>
                </a:rPr>
                <a:t>Architecture;</a:t>
              </a:r>
            </a:p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800" kern="0" dirty="0" err="1">
                  <a:solidFill>
                    <a:srgbClr val="262626"/>
                  </a:solidFill>
                  <a:latin typeface="Quicksand"/>
                </a:rPr>
                <a:t>Parameters</a:t>
              </a:r>
              <a:r>
                <a:rPr lang="it-IT" sz="1800" kern="0" dirty="0">
                  <a:solidFill>
                    <a:srgbClr val="262626"/>
                  </a:solidFill>
                  <a:latin typeface="Quicksand"/>
                </a:rPr>
                <a:t>;</a:t>
              </a:r>
            </a:p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t-IT" sz="1800" kern="0" dirty="0" err="1">
                  <a:solidFill>
                    <a:srgbClr val="262626"/>
                  </a:solidFill>
                  <a:latin typeface="Quicksand"/>
                </a:rPr>
                <a:t>Cost</a:t>
              </a:r>
              <a:r>
                <a:rPr lang="it-IT" sz="1800" kern="0" dirty="0">
                  <a:solidFill>
                    <a:srgbClr val="262626"/>
                  </a:solidFill>
                  <a:latin typeface="Quicksand"/>
                </a:rPr>
                <a:t> </a:t>
              </a:r>
              <a:r>
                <a:rPr lang="it-IT" sz="1800" kern="0" dirty="0" err="1">
                  <a:solidFill>
                    <a:srgbClr val="262626"/>
                  </a:solidFill>
                  <a:latin typeface="Quicksand"/>
                </a:rPr>
                <a:t>function</a:t>
              </a:r>
              <a:endParaRPr kumimoji="0" lang="it-IT" sz="18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CasellaDiTesto 33"/>
            <p:cNvSpPr txBox="1"/>
            <p:nvPr/>
          </p:nvSpPr>
          <p:spPr>
            <a:xfrm>
              <a:off x="6919482" y="3710927"/>
              <a:ext cx="1913220" cy="1245851"/>
            </a:xfrm>
            <a:prstGeom prst="rect">
              <a:avLst/>
            </a:prstGeom>
            <a:gradFill rotWithShape="1">
              <a:gsLst>
                <a:gs pos="0">
                  <a:srgbClr val="FF9700">
                    <a:lumMod val="110000"/>
                    <a:satMod val="105000"/>
                    <a:tint val="67000"/>
                  </a:srgbClr>
                </a:gs>
                <a:gs pos="50000">
                  <a:srgbClr val="FF9700">
                    <a:lumMod val="105000"/>
                    <a:satMod val="103000"/>
                    <a:tint val="73000"/>
                  </a:srgbClr>
                </a:gs>
                <a:gs pos="100000">
                  <a:srgbClr val="FF97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97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Prompt</a:t>
              </a:r>
              <a:r>
                <a:rPr kumimoji="0" lang="it-IT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it-IT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Quicksand"/>
                  <a:ea typeface="ＭＳ Ｐゴシック" panose="020B0600070205080204" pitchFamily="34" charset="-128"/>
                  <a:cs typeface="+mn-cs"/>
                </a:rPr>
                <a:t>engineering</a:t>
              </a:r>
              <a:endParaRPr kumimoji="0" lang="it-IT" sz="18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35" name="Connettore 2 34"/>
            <p:cNvCxnSpPr>
              <a:stCxn id="32" idx="0"/>
            </p:cNvCxnSpPr>
            <p:nvPr/>
          </p:nvCxnSpPr>
          <p:spPr>
            <a:xfrm flipV="1">
              <a:off x="2678639" y="2805472"/>
              <a:ext cx="0" cy="905457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6" name="Connettore 2 35"/>
            <p:cNvCxnSpPr>
              <a:stCxn id="33" idx="0"/>
            </p:cNvCxnSpPr>
            <p:nvPr/>
          </p:nvCxnSpPr>
          <p:spPr>
            <a:xfrm flipV="1">
              <a:off x="5277366" y="2805472"/>
              <a:ext cx="0" cy="905457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37" name="Connettore 2 36"/>
            <p:cNvCxnSpPr>
              <a:stCxn id="34" idx="0"/>
            </p:cNvCxnSpPr>
            <p:nvPr/>
          </p:nvCxnSpPr>
          <p:spPr>
            <a:xfrm flipV="1">
              <a:off x="7876092" y="2805471"/>
              <a:ext cx="0" cy="905456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ysDash"/>
              <a:miter lim="800000"/>
              <a:tailEnd type="triangle"/>
            </a:ln>
            <a:effectLst/>
          </p:spPr>
        </p:cxnSp>
        <p:sp>
          <p:nvSpPr>
            <p:cNvPr id="38" name="CasellaDiTesto 37"/>
            <p:cNvSpPr txBox="1"/>
            <p:nvPr/>
          </p:nvSpPr>
          <p:spPr>
            <a:xfrm>
              <a:off x="9530286" y="3710927"/>
              <a:ext cx="1913220" cy="1245851"/>
            </a:xfrm>
            <a:prstGeom prst="rect">
              <a:avLst/>
            </a:prstGeom>
            <a:gradFill rotWithShape="1">
              <a:gsLst>
                <a:gs pos="0">
                  <a:srgbClr val="FF9700">
                    <a:lumMod val="110000"/>
                    <a:satMod val="105000"/>
                    <a:tint val="67000"/>
                  </a:srgbClr>
                </a:gs>
                <a:gs pos="50000">
                  <a:srgbClr val="FF9700">
                    <a:lumMod val="105000"/>
                    <a:satMod val="103000"/>
                    <a:tint val="73000"/>
                  </a:srgbClr>
                </a:gs>
                <a:gs pos="100000">
                  <a:srgbClr val="FF9700">
                    <a:lumMod val="105000"/>
                    <a:satMod val="109000"/>
                    <a:tint val="81000"/>
                  </a:srgbClr>
                </a:gs>
              </a:gsLst>
              <a:lin ang="5400000" scaled="0"/>
            </a:gradFill>
            <a:ln w="6350" cap="flat" cmpd="sng" algn="ctr">
              <a:solidFill>
                <a:srgbClr val="FF97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>
                  <a:solidFill>
                    <a:srgbClr val="262626"/>
                  </a:solidFill>
                  <a:latin typeface="Quicksand"/>
                </a:rPr>
                <a:t>Choice </a:t>
              </a:r>
              <a:r>
                <a:rPr lang="en-US" sz="1800" kern="0" dirty="0" smtClean="0">
                  <a:solidFill>
                    <a:srgbClr val="262626"/>
                  </a:solidFill>
                  <a:latin typeface="Quicksand"/>
                </a:rPr>
                <a:t>&amp;</a:t>
              </a:r>
              <a:endParaRPr lang="en-US" sz="1800" kern="0" dirty="0">
                <a:solidFill>
                  <a:srgbClr val="262626"/>
                </a:solidFill>
                <a:latin typeface="Quicksand"/>
              </a:endParaRPr>
            </a:p>
            <a:p>
              <a:pPr lvl="0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 smtClean="0">
                  <a:solidFill>
                    <a:srgbClr val="262626"/>
                  </a:solidFill>
                  <a:latin typeface="Quicksand"/>
                </a:rPr>
                <a:t>Editing; Framing of </a:t>
              </a:r>
              <a:r>
                <a:rPr lang="en-US" sz="1800" kern="0" dirty="0">
                  <a:solidFill>
                    <a:srgbClr val="262626"/>
                  </a:solidFill>
                  <a:latin typeface="Quicksand"/>
                </a:rPr>
                <a:t>results</a:t>
              </a:r>
              <a:endParaRPr kumimoji="0" lang="it-IT" sz="18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39" name="Connettore 2 38"/>
            <p:cNvCxnSpPr>
              <a:stCxn id="38" idx="0"/>
              <a:endCxn id="28" idx="2"/>
            </p:cNvCxnSpPr>
            <p:nvPr/>
          </p:nvCxnSpPr>
          <p:spPr>
            <a:xfrm flipH="1" flipV="1">
              <a:off x="10483878" y="2805471"/>
              <a:ext cx="3018" cy="905456"/>
            </a:xfrm>
            <a:prstGeom prst="straightConnector1">
              <a:avLst/>
            </a:prstGeom>
            <a:noFill/>
            <a:ln w="28575" cap="flat" cmpd="sng" algn="ctr">
              <a:solidFill>
                <a:srgbClr val="8A3AB9"/>
              </a:solidFill>
              <a:prstDash val="sysDash"/>
              <a:miter lim="800000"/>
              <a:tailEnd type="triangle"/>
            </a:ln>
            <a:effectLst/>
          </p:spPr>
        </p:cxnSp>
      </p:grpSp>
      <p:sp>
        <p:nvSpPr>
          <p:cNvPr id="40" name="CasellaDiTesto 39"/>
          <p:cNvSpPr txBox="1"/>
          <p:nvPr/>
        </p:nvSpPr>
        <p:spPr>
          <a:xfrm>
            <a:off x="1003020" y="5369674"/>
            <a:ext cx="1009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 smtClean="0">
                <a:latin typeface="+mn-lt"/>
              </a:rPr>
              <a:t>Isn’t</a:t>
            </a:r>
            <a:r>
              <a:rPr lang="it-IT" sz="2800" dirty="0" smtClean="0">
                <a:latin typeface="+mn-lt"/>
              </a:rPr>
              <a:t> </a:t>
            </a:r>
            <a:r>
              <a:rPr lang="it-IT" sz="2800" b="1" dirty="0" smtClean="0">
                <a:latin typeface="+mn-lt"/>
              </a:rPr>
              <a:t>«</a:t>
            </a:r>
            <a:r>
              <a:rPr lang="it-IT" sz="2800" b="1" dirty="0" err="1" smtClean="0">
                <a:latin typeface="+mn-lt"/>
              </a:rPr>
              <a:t>Computational</a:t>
            </a:r>
            <a:r>
              <a:rPr lang="it-IT" sz="2800" b="1" dirty="0" smtClean="0">
                <a:latin typeface="+mn-lt"/>
              </a:rPr>
              <a:t> Co-</a:t>
            </a:r>
            <a:r>
              <a:rPr lang="it-IT" sz="2800" b="1" dirty="0" err="1" smtClean="0">
                <a:latin typeface="+mn-lt"/>
              </a:rPr>
              <a:t>Creativity</a:t>
            </a:r>
            <a:r>
              <a:rPr lang="it-IT" sz="2800" b="1" dirty="0" smtClean="0">
                <a:latin typeface="+mn-lt"/>
              </a:rPr>
              <a:t>» </a:t>
            </a:r>
            <a:r>
              <a:rPr lang="it-IT" sz="2800" dirty="0" smtClean="0">
                <a:latin typeface="+mn-lt"/>
              </a:rPr>
              <a:t>a more </a:t>
            </a:r>
            <a:r>
              <a:rPr lang="it-IT" sz="2800" dirty="0" err="1" smtClean="0">
                <a:latin typeface="+mn-lt"/>
              </a:rPr>
              <a:t>suitable</a:t>
            </a:r>
            <a:r>
              <a:rPr lang="it-IT" sz="2800" dirty="0" smtClean="0">
                <a:latin typeface="+mn-lt"/>
              </a:rPr>
              <a:t> </a:t>
            </a:r>
            <a:r>
              <a:rPr lang="it-IT" sz="2800" dirty="0" err="1" smtClean="0">
                <a:latin typeface="+mn-lt"/>
              </a:rPr>
              <a:t>name</a:t>
            </a:r>
            <a:r>
              <a:rPr lang="it-IT" sz="2800" dirty="0" smtClean="0">
                <a:latin typeface="+mn-lt"/>
              </a:rPr>
              <a:t>?</a:t>
            </a:r>
            <a:endParaRPr lang="it-IT" sz="2800" dirty="0">
              <a:latin typeface="+mn-lt"/>
            </a:endParaRPr>
          </a:p>
        </p:txBody>
      </p:sp>
      <p:grpSp>
        <p:nvGrpSpPr>
          <p:cNvPr id="9" name="Gruppo 8"/>
          <p:cNvGrpSpPr/>
          <p:nvPr/>
        </p:nvGrpSpPr>
        <p:grpSpPr>
          <a:xfrm>
            <a:off x="1562410" y="1152060"/>
            <a:ext cx="7360902" cy="835141"/>
            <a:chOff x="1562410" y="1152060"/>
            <a:chExt cx="7360902" cy="835141"/>
          </a:xfrm>
        </p:grpSpPr>
        <p:sp>
          <p:nvSpPr>
            <p:cNvPr id="7" name="Parentesi graffa chiusa 6"/>
            <p:cNvSpPr/>
            <p:nvPr/>
          </p:nvSpPr>
          <p:spPr>
            <a:xfrm rot="16200000">
              <a:off x="5039268" y="-1896843"/>
              <a:ext cx="407186" cy="7360902"/>
            </a:xfrm>
            <a:prstGeom prst="rightBrace">
              <a:avLst>
                <a:gd name="adj1" fmla="val 70187"/>
                <a:gd name="adj2" fmla="val 50000"/>
              </a:avLst>
            </a:prstGeom>
            <a:ln w="19050">
              <a:solidFill>
                <a:schemeClr val="accent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3292088" y="1152060"/>
              <a:ext cx="3919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dirty="0" err="1" smtClean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+mn-lt"/>
                </a:rPr>
                <a:t>Interesting</a:t>
              </a:r>
              <a:r>
                <a:rPr lang="it-IT" sz="2000" dirty="0" smtClean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+mn-lt"/>
                </a:rPr>
                <a:t> </a:t>
              </a:r>
              <a:r>
                <a:rPr lang="it-IT" sz="2000" dirty="0" err="1" smtClean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+mn-lt"/>
                </a:rPr>
                <a:t>emerging</a:t>
              </a:r>
              <a:r>
                <a:rPr lang="it-IT" sz="2000" dirty="0" smtClean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+mn-lt"/>
                </a:rPr>
                <a:t> </a:t>
              </a:r>
              <a:r>
                <a:rPr lang="it-IT" sz="2000" dirty="0" err="1" smtClean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+mn-lt"/>
                </a:rPr>
                <a:t>properties</a:t>
              </a:r>
              <a:endParaRPr lang="it-IT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563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AI and the Law</a:t>
            </a:r>
            <a:endParaRPr lang="it-IT" dirty="0"/>
          </a:p>
        </p:txBody>
      </p:sp>
      <p:sp>
        <p:nvSpPr>
          <p:cNvPr id="5" name="Sottotito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/>
              <a:t>How </a:t>
            </a:r>
            <a:r>
              <a:rPr lang="it-IT" dirty="0" err="1" smtClean="0"/>
              <a:t>we</a:t>
            </a:r>
            <a:r>
              <a:rPr lang="it-IT" dirty="0" smtClean="0"/>
              <a:t> are </a:t>
            </a:r>
            <a:r>
              <a:rPr lang="it-IT" dirty="0" err="1" smtClean="0"/>
              <a:t>dealing</a:t>
            </a:r>
            <a:r>
              <a:rPr lang="it-IT" dirty="0" smtClean="0"/>
              <a:t> with AI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729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0000" tIns="45000" rIns="90000" bIns="45000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it-IT" sz="2400" dirty="0">
                <a:latin typeface="Consolas" panose="020B0609020204030204" pitchFamily="49" charset="0"/>
              </a:rPr>
              <a:t>adb install app.apk</a:t>
            </a:r>
            <a:r>
              <a:rPr lang="it-IT" sz="2800" dirty="0">
                <a:latin typeface="Calibri" panose="020F0502020204030204" pitchFamily="34" charset="0"/>
              </a:rPr>
              <a:t> installa un APK (</a:t>
            </a:r>
            <a:r>
              <a:rPr lang="it-IT" sz="2400" dirty="0">
                <a:latin typeface="Consolas" panose="020B0609020204030204" pitchFamily="49" charset="0"/>
              </a:rPr>
              <a:t>-r</a:t>
            </a:r>
            <a:r>
              <a:rPr lang="it-IT" sz="2800" dirty="0">
                <a:latin typeface="Calibri" panose="020F0502020204030204" pitchFamily="34" charset="0"/>
              </a:rPr>
              <a:t> per aggiornare)</a:t>
            </a:r>
          </a:p>
          <a:p>
            <a:pPr>
              <a:spcBef>
                <a:spcPts val="600"/>
              </a:spcBef>
            </a:pPr>
            <a:r>
              <a:rPr lang="it-IT" sz="2400" dirty="0">
                <a:latin typeface="Consolas" panose="020B0609020204030204" pitchFamily="49" charset="0"/>
              </a:rPr>
              <a:t>adb uninstall &lt;package&gt;</a:t>
            </a:r>
            <a:r>
              <a:rPr lang="it-IT" sz="2800" dirty="0">
                <a:latin typeface="Calibri" panose="020F0502020204030204" pitchFamily="34" charset="0"/>
              </a:rPr>
              <a:t> disinstalla un’app</a:t>
            </a:r>
          </a:p>
          <a:p>
            <a:pPr>
              <a:spcBef>
                <a:spcPts val="600"/>
              </a:spcBef>
            </a:pPr>
            <a:r>
              <a:rPr lang="it-IT" sz="2800" dirty="0">
                <a:latin typeface="Calibri" panose="020F0502020204030204" pitchFamily="34" charset="0"/>
              </a:rPr>
              <a:t>Dalla shell, due strumenti del framework</a:t>
            </a:r>
          </a:p>
          <a:p>
            <a:pPr lvl="1">
              <a:spcBef>
                <a:spcPts val="600"/>
              </a:spcBef>
            </a:pPr>
            <a:r>
              <a:rPr lang="it-IT" sz="1800" dirty="0">
                <a:latin typeface="Consolas" panose="020B0609020204030204" pitchFamily="49" charset="0"/>
              </a:rPr>
              <a:t>pm</a:t>
            </a:r>
            <a:r>
              <a:rPr lang="it-IT" sz="2000" dirty="0">
                <a:latin typeface="Calibri" panose="020F0502020204030204" pitchFamily="34" charset="0"/>
              </a:rPr>
              <a:t> (Package Manager): elenca package e permessi</a:t>
            </a:r>
          </a:p>
          <a:p>
            <a:pPr lvl="1">
              <a:spcBef>
                <a:spcPts val="600"/>
              </a:spcBef>
            </a:pPr>
            <a:r>
              <a:rPr lang="it-IT" sz="1800" dirty="0">
                <a:latin typeface="Consolas" panose="020B0609020204030204" pitchFamily="49" charset="0"/>
              </a:rPr>
              <a:t>am</a:t>
            </a:r>
            <a:r>
              <a:rPr lang="it-IT" sz="2000" dirty="0">
                <a:latin typeface="Calibri" panose="020F0502020204030204" pitchFamily="34" charset="0"/>
              </a:rPr>
              <a:t> (Activity Manager): avvia activity, termina processi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it-IT" sz="3000" b="1" dirty="0">
                <a:latin typeface="Calibri" panose="020F0502020204030204" pitchFamily="34" charset="0"/>
              </a:rPr>
              <a:t>Comandi di base (2/3): app</a:t>
            </a:r>
          </a:p>
        </p:txBody>
      </p:sp>
      <p:sp>
        <p:nvSpPr>
          <p:cNvPr id="4" name="Codice"/>
          <p:cNvSpPr txBox="1"/>
          <p:nvPr/>
        </p:nvSpPr>
        <p:spPr>
          <a:xfrm>
            <a:off x="1159933" y="4181526"/>
            <a:ext cx="8107362" cy="1670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44000" tIns="108000" rIns="144000" bIns="10800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install -r app-debug.apk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shell pm list packages -3          # app di terze parti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shell pm path com.example.hello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shell am start -n com.example.hello/.MainActivity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shell am force-stop com.example.hello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adb uninstall com.example.hello</a:t>
            </a:r>
          </a:p>
        </p:txBody>
      </p:sp>
    </p:spTree>
    <p:extLst>
      <p:ext uri="{BB962C8B-B14F-4D97-AF65-F5344CB8AC3E}">
        <p14:creationId xmlns:p14="http://schemas.microsoft.com/office/powerpoint/2010/main" val="1773196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C:\Users\Euronics PC\Progetti\Matlab\Lezione sint\FM_4.pn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2" t="15741" r="27719" b="19984"/>
          <a:stretch/>
        </p:blipFill>
        <p:spPr bwMode="auto">
          <a:xfrm>
            <a:off x="5412336" y="1980696"/>
            <a:ext cx="5255664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egnaposto piè di pagina 3"/>
          <p:cNvSpPr txBox="1">
            <a:spLocks/>
          </p:cNvSpPr>
          <p:nvPr/>
        </p:nvSpPr>
        <p:spPr bwMode="auto">
          <a:xfrm>
            <a:off x="2590800" y="6289935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LIM: Laboratorio di Informatica Musicale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www.lim.di.unimi.it</a:t>
            </a:r>
            <a:endParaRPr lang="it-IT" altLang="it-IT" sz="1400" dirty="0">
              <a:solidFill>
                <a:srgbClr val="000000"/>
              </a:solidFill>
            </a:endParaRPr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60" y="6300577"/>
            <a:ext cx="534938" cy="534938"/>
          </a:xfrm>
          <a:prstGeom prst="rect">
            <a:avLst/>
          </a:prstGeom>
        </p:spPr>
      </p:pic>
      <p:sp>
        <p:nvSpPr>
          <p:cNvPr id="11" name="Titolo 3"/>
          <p:cNvSpPr txBox="1">
            <a:spLocks/>
          </p:cNvSpPr>
          <p:nvPr/>
        </p:nvSpPr>
        <p:spPr bwMode="auto">
          <a:xfrm>
            <a:off x="2393950" y="0"/>
            <a:ext cx="839369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9pPr>
          </a:lstStyle>
          <a:p>
            <a:pPr defTabSz="914400">
              <a:defRPr/>
            </a:pPr>
            <a:r>
              <a:rPr lang="en-GB" kern="0" dirty="0" err="1">
                <a:latin typeface="Trebuchet MS"/>
                <a:ea typeface="ＭＳ Ｐゴシック"/>
              </a:rPr>
              <a:t>Attività</a:t>
            </a:r>
            <a:r>
              <a:rPr lang="en-GB" kern="0" dirty="0">
                <a:latin typeface="Trebuchet MS"/>
                <a:ea typeface="ＭＳ Ｐゴシック"/>
              </a:rPr>
              <a:t> </a:t>
            </a:r>
            <a:r>
              <a:rPr lang="en-GB" kern="0" dirty="0" err="1">
                <a:latin typeface="Trebuchet MS"/>
                <a:ea typeface="ＭＳ Ｐゴシック"/>
              </a:rPr>
              <a:t>che</a:t>
            </a:r>
            <a:r>
              <a:rPr lang="en-GB" kern="0" dirty="0">
                <a:latin typeface="Trebuchet MS"/>
                <a:ea typeface="ＭＳ Ｐゴシック"/>
              </a:rPr>
              <a:t> </a:t>
            </a:r>
            <a:r>
              <a:rPr lang="en-GB" kern="0" dirty="0" err="1">
                <a:latin typeface="Trebuchet MS"/>
                <a:ea typeface="ＭＳ Ｐゴシック"/>
              </a:rPr>
              <a:t>concorrono</a:t>
            </a:r>
            <a:r>
              <a:rPr lang="en-GB" kern="0" dirty="0">
                <a:latin typeface="Trebuchet MS"/>
                <a:ea typeface="ＭＳ Ｐゴシック"/>
              </a:rPr>
              <a:t> </a:t>
            </a:r>
            <a:r>
              <a:rPr lang="en-GB" kern="0" dirty="0" err="1">
                <a:latin typeface="Trebuchet MS"/>
                <a:ea typeface="ＭＳ Ｐゴシック"/>
              </a:rPr>
              <a:t>alla</a:t>
            </a:r>
            <a:r>
              <a:rPr lang="en-GB" kern="0" dirty="0">
                <a:latin typeface="Trebuchet MS"/>
                <a:ea typeface="ＭＳ Ｐゴシック"/>
              </a:rPr>
              <a:t> </a:t>
            </a:r>
            <a:r>
              <a:rPr lang="en-GB" kern="0" dirty="0" err="1">
                <a:latin typeface="Trebuchet MS"/>
                <a:ea typeface="ＭＳ Ｐゴシック"/>
              </a:rPr>
              <a:t>creazione</a:t>
            </a:r>
            <a:r>
              <a:rPr lang="en-GB" kern="0" dirty="0">
                <a:latin typeface="Trebuchet MS"/>
                <a:ea typeface="ＭＳ Ｐゴシック"/>
              </a:rPr>
              <a:t> del SW</a:t>
            </a:r>
          </a:p>
        </p:txBody>
      </p:sp>
      <p:sp>
        <p:nvSpPr>
          <p:cNvPr id="13" name="Segnaposto contenuto 4"/>
          <p:cNvSpPr txBox="1">
            <a:spLocks/>
          </p:cNvSpPr>
          <p:nvPr/>
        </p:nvSpPr>
        <p:spPr bwMode="auto">
          <a:xfrm>
            <a:off x="2393950" y="1321203"/>
            <a:ext cx="7772400" cy="494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24242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424242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9pPr>
          </a:lstStyle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Studio di fattibilità</a:t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i="1" kern="0" dirty="0">
                <a:latin typeface="Trebuchet MS"/>
                <a:ea typeface="ＭＳ Ｐゴシック"/>
              </a:rPr>
              <a:t>Contatto</a:t>
            </a:r>
            <a:r>
              <a:rPr lang="it-IT" sz="1200" kern="0" dirty="0">
                <a:latin typeface="Trebuchet MS"/>
                <a:ea typeface="ＭＳ Ｐゴシック"/>
              </a:rPr>
              <a:t> tra problemi tecnologici ed economici</a:t>
            </a:r>
            <a:br>
              <a:rPr lang="it-IT" sz="1200" kern="0" dirty="0">
                <a:latin typeface="Trebuchet MS"/>
                <a:ea typeface="ＭＳ Ｐゴシック"/>
              </a:rPr>
            </a:br>
            <a:endParaRPr lang="it-IT" sz="1200" kern="0" dirty="0">
              <a:latin typeface="Trebuchet MS"/>
              <a:ea typeface="ＭＳ Ｐゴシック"/>
            </a:endParaRPr>
          </a:p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Analisi e specifica dei requisiti  </a:t>
            </a:r>
            <a:r>
              <a:rPr lang="it-IT" sz="1800" kern="0" dirty="0">
                <a:solidFill>
                  <a:srgbClr val="92D050"/>
                </a:solidFill>
                <a:latin typeface="Trebuchet MS"/>
                <a:ea typeface="ＭＳ Ｐゴシック"/>
                <a:hlinkClick r:id="rId4"/>
              </a:rPr>
              <a:t>[link]</a:t>
            </a:r>
            <a:r>
              <a:rPr lang="it-IT" kern="0" dirty="0">
                <a:latin typeface="Trebuchet MS"/>
                <a:ea typeface="ＭＳ Ｐゴシック"/>
              </a:rPr>
              <a:t/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i="1" kern="0" dirty="0">
                <a:latin typeface="Trebuchet MS"/>
                <a:ea typeface="ＭＳ Ｐゴシック"/>
              </a:rPr>
              <a:t>cosa</a:t>
            </a:r>
            <a:r>
              <a:rPr lang="it-IT" sz="1200" kern="0" dirty="0">
                <a:latin typeface="Trebuchet MS"/>
                <a:ea typeface="ＭＳ Ｐゴシック"/>
              </a:rPr>
              <a:t>, non </a:t>
            </a:r>
            <a:r>
              <a:rPr lang="it-IT" sz="1200" i="1" kern="0" dirty="0">
                <a:latin typeface="Trebuchet MS"/>
                <a:ea typeface="ＭＳ Ｐゴシック"/>
              </a:rPr>
              <a:t>come</a:t>
            </a:r>
            <a:r>
              <a:rPr lang="it-IT" sz="1200" kern="0" dirty="0">
                <a:latin typeface="Trebuchet MS"/>
                <a:ea typeface="ＭＳ Ｐゴシック"/>
              </a:rPr>
              <a:t>: base contrattuale, base per i test</a:t>
            </a:r>
            <a:br>
              <a:rPr lang="it-IT" sz="1200" kern="0" dirty="0">
                <a:latin typeface="Trebuchet MS"/>
                <a:ea typeface="ＭＳ Ｐゴシック"/>
              </a:rPr>
            </a:br>
            <a:endParaRPr lang="it-IT" sz="1200" kern="0" dirty="0">
              <a:latin typeface="Trebuchet MS"/>
              <a:ea typeface="ＭＳ Ｐゴシック"/>
            </a:endParaRPr>
          </a:p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Progettazione/design</a:t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kern="0" dirty="0">
                <a:latin typeface="Trebuchet MS"/>
                <a:ea typeface="ＭＳ Ｐゴシック"/>
              </a:rPr>
              <a:t>come realizzare i requisiti: architettura del sistema. </a:t>
            </a:r>
            <a:r>
              <a:rPr lang="it-IT" sz="1200" b="1" i="1" kern="0" dirty="0">
                <a:solidFill>
                  <a:srgbClr val="C00000"/>
                </a:solidFill>
                <a:latin typeface="Trebuchet MS"/>
                <a:ea typeface="ＭＳ Ｐゴシック"/>
              </a:rPr>
              <a:t>Design </a:t>
            </a:r>
            <a:r>
              <a:rPr lang="it-IT" sz="1200" b="1" i="1" kern="0" dirty="0" err="1">
                <a:solidFill>
                  <a:srgbClr val="C00000"/>
                </a:solidFill>
                <a:latin typeface="Trebuchet MS"/>
                <a:ea typeface="ＭＳ Ｐゴシック"/>
              </a:rPr>
              <a:t>is</a:t>
            </a:r>
            <a:r>
              <a:rPr lang="it-IT" sz="1200" b="1" i="1" kern="0" dirty="0">
                <a:solidFill>
                  <a:srgbClr val="C00000"/>
                </a:solidFill>
                <a:latin typeface="Trebuchet MS"/>
                <a:ea typeface="ＭＳ Ｐゴシック"/>
              </a:rPr>
              <a:t> </a:t>
            </a:r>
            <a:r>
              <a:rPr lang="it-IT" sz="1200" b="1" i="1" kern="0" dirty="0" err="1">
                <a:solidFill>
                  <a:srgbClr val="C00000"/>
                </a:solidFill>
                <a:latin typeface="Trebuchet MS"/>
                <a:ea typeface="ＭＳ Ｐゴシック"/>
              </a:rPr>
              <a:t>all</a:t>
            </a:r>
            <a:r>
              <a:rPr lang="it-IT" sz="1200" b="1" i="1" kern="0" dirty="0">
                <a:solidFill>
                  <a:srgbClr val="C00000"/>
                </a:solidFill>
                <a:latin typeface="Trebuchet MS"/>
                <a:ea typeface="ＭＳ Ｐゴシック"/>
              </a:rPr>
              <a:t>!</a:t>
            </a:r>
            <a:r>
              <a:rPr lang="it-IT" sz="1200" kern="0" dirty="0">
                <a:latin typeface="Trebuchet MS"/>
                <a:ea typeface="ＭＳ Ｐゴシック"/>
              </a:rPr>
              <a:t/>
            </a:r>
            <a:br>
              <a:rPr lang="it-IT" sz="1200" kern="0" dirty="0">
                <a:latin typeface="Trebuchet MS"/>
                <a:ea typeface="ＭＳ Ｐゴシック"/>
              </a:rPr>
            </a:br>
            <a:endParaRPr lang="it-IT" sz="1200" kern="0" dirty="0">
              <a:latin typeface="Trebuchet MS"/>
              <a:ea typeface="ＭＳ Ｐゴシック"/>
            </a:endParaRPr>
          </a:p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Implementazione e test delle singole unità</a:t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kern="0" dirty="0">
                <a:latin typeface="Trebuchet MS"/>
                <a:ea typeface="ＭＳ Ｐゴシック"/>
              </a:rPr>
              <a:t>cioè test dei singoli moduli</a:t>
            </a:r>
            <a:br>
              <a:rPr lang="it-IT" sz="1200" kern="0" dirty="0">
                <a:latin typeface="Trebuchet MS"/>
                <a:ea typeface="ＭＳ Ｐゴシック"/>
              </a:rPr>
            </a:br>
            <a:endParaRPr lang="it-IT" sz="1200" kern="0" dirty="0">
              <a:latin typeface="Trebuchet MS"/>
              <a:ea typeface="ＭＳ Ｐゴシック"/>
            </a:endParaRPr>
          </a:p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Integrazione e test di sistema</a:t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kern="0" dirty="0">
                <a:latin typeface="Trebuchet MS"/>
                <a:ea typeface="ＭＳ Ｐゴシック"/>
              </a:rPr>
              <a:t>top-down o bottom-up, alfa e beta test</a:t>
            </a:r>
            <a:br>
              <a:rPr lang="it-IT" sz="1200" kern="0" dirty="0">
                <a:latin typeface="Trebuchet MS"/>
                <a:ea typeface="ＭＳ Ｐゴシック"/>
              </a:rPr>
            </a:br>
            <a:endParaRPr lang="it-IT" sz="1200" kern="0" dirty="0">
              <a:latin typeface="Trebuchet MS"/>
              <a:ea typeface="ＭＳ Ｐゴシック"/>
            </a:endParaRPr>
          </a:p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Manutenzione</a:t>
            </a:r>
            <a:br>
              <a:rPr lang="it-IT" kern="0" dirty="0">
                <a:latin typeface="Trebuchet MS"/>
                <a:ea typeface="ＭＳ Ｐゴシック"/>
              </a:rPr>
            </a:br>
            <a:r>
              <a:rPr lang="it-IT" sz="1200" kern="0" dirty="0">
                <a:latin typeface="Trebuchet MS"/>
                <a:ea typeface="ＭＳ Ｐゴシック"/>
              </a:rPr>
              <a:t>correttiva, adattiva o perfettiva</a:t>
            </a:r>
            <a:endParaRPr lang="en-GB" sz="1200" kern="0" dirty="0">
              <a:latin typeface="Trebuchet MS"/>
              <a:ea typeface="ＭＳ Ｐゴシック"/>
            </a:endParaRPr>
          </a:p>
        </p:txBody>
      </p:sp>
      <p:grpSp>
        <p:nvGrpSpPr>
          <p:cNvPr id="4" name="Gruppo 3"/>
          <p:cNvGrpSpPr/>
          <p:nvPr/>
        </p:nvGrpSpPr>
        <p:grpSpPr>
          <a:xfrm>
            <a:off x="2393949" y="2546518"/>
            <a:ext cx="7772402" cy="2726238"/>
            <a:chOff x="869949" y="2546518"/>
            <a:chExt cx="7772402" cy="2726238"/>
          </a:xfrm>
        </p:grpSpPr>
        <p:sp>
          <p:nvSpPr>
            <p:cNvPr id="2" name="Rettangolo 1"/>
            <p:cNvSpPr/>
            <p:nvPr/>
          </p:nvSpPr>
          <p:spPr>
            <a:xfrm>
              <a:off x="869949" y="2854296"/>
              <a:ext cx="7772401" cy="241846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CasellaDiTesto 2"/>
            <p:cNvSpPr txBox="1"/>
            <p:nvPr/>
          </p:nvSpPr>
          <p:spPr>
            <a:xfrm>
              <a:off x="6588807" y="2546518"/>
              <a:ext cx="2053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sz="1400" i="1" dirty="0">
                  <a:solidFill>
                    <a:srgbClr val="C00000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</a:rPr>
                <a:t>x2!</a:t>
              </a:r>
              <a:r>
                <a:rPr lang="it-IT" sz="1400" dirty="0">
                  <a:solidFill>
                    <a:srgbClr val="C00000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it-IT" sz="1100" dirty="0">
                  <a:solidFill>
                    <a:srgbClr val="C00000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</a:rPr>
                <a:t>(Prototipo + Produzione)</a:t>
              </a:r>
            </a:p>
          </p:txBody>
        </p:sp>
      </p:grpSp>
      <p:grpSp>
        <p:nvGrpSpPr>
          <p:cNvPr id="10" name="Gruppo 9"/>
          <p:cNvGrpSpPr/>
          <p:nvPr/>
        </p:nvGrpSpPr>
        <p:grpSpPr>
          <a:xfrm>
            <a:off x="1575128" y="2203901"/>
            <a:ext cx="545221" cy="3143352"/>
            <a:chOff x="5129470" y="2435538"/>
            <a:chExt cx="545221" cy="3143352"/>
          </a:xfrm>
        </p:grpSpPr>
        <p:sp>
          <p:nvSpPr>
            <p:cNvPr id="12" name="Parentesi graffa chiusa 11"/>
            <p:cNvSpPr/>
            <p:nvPr/>
          </p:nvSpPr>
          <p:spPr>
            <a:xfrm flipH="1">
              <a:off x="5467474" y="2435538"/>
              <a:ext cx="207217" cy="3143352"/>
            </a:xfrm>
            <a:prstGeom prst="rightBrac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it-IT" sz="2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 rot="16200000">
              <a:off x="4071552" y="3837937"/>
              <a:ext cx="2454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it-IT" sz="1600" dirty="0">
                  <a:solidFill>
                    <a:srgbClr val="0070C0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</a:rPr>
                <a:t>Valutati in sede d’esame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666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9" descr="C:\Users\Euronics PC\Progetti\Matlab\Lezione sint\FM_4.pn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2" t="15741" r="27719" b="19984"/>
          <a:stretch/>
        </p:blipFill>
        <p:spPr bwMode="auto">
          <a:xfrm>
            <a:off x="5412336" y="1980696"/>
            <a:ext cx="5255664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egnaposto contenuto 2"/>
          <p:cNvSpPr txBox="1">
            <a:spLocks/>
          </p:cNvSpPr>
          <p:nvPr/>
        </p:nvSpPr>
        <p:spPr bwMode="auto">
          <a:xfrm>
            <a:off x="1733860" y="1149913"/>
            <a:ext cx="8677728" cy="4904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24242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424242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9pPr>
          </a:lstStyle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class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MyAudioProcessor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: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public</a:t>
            </a:r>
            <a:r>
              <a:rPr lang="en-US" sz="1600" kern="0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  <a:ea typeface="ＭＳ Ｐゴシック"/>
              </a:rPr>
              <a:t>parameterListener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{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public: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 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MyAudioProcessor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();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  ~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MyAudioProcessor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();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endParaRPr lang="en-US" sz="1600" kern="0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  void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prepareToPlay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(double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sampleRate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,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int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samplesPerBlock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  void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releaseResources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();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		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  void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processBlock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(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AudioBuffer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&lt;float&gt;&amp; buffer, </a:t>
            </a:r>
            <a:r>
              <a:rPr lang="en-US" sz="1600" kern="0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MidiBuffer</a:t>
            </a: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&amp; midi);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endParaRPr lang="en-US" sz="1600" kern="0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    // void </a:t>
            </a:r>
            <a:r>
              <a:rPr lang="en-US" sz="1600" kern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setParameter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(float </a:t>
            </a:r>
            <a:r>
              <a:rPr lang="en-US" sz="1600" kern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newValue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);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endParaRPr lang="en-US" sz="1600" kern="0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ＭＳ Ｐゴシック"/>
              </a:rPr>
              <a:t>  private: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  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void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  <a:ea typeface="ＭＳ Ｐゴシック"/>
              </a:rPr>
              <a:t>parameterChanged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(</a:t>
            </a:r>
            <a:r>
              <a:rPr lang="en-US" sz="1600" kern="0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const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>
                <a:solidFill>
                  <a:srgbClr val="4BACC6">
                    <a:lumMod val="75000"/>
                  </a:srgbClr>
                </a:solidFill>
                <a:latin typeface="Consolas" panose="020B0609020204030204" pitchFamily="49" charset="0"/>
                <a:ea typeface="ＭＳ Ｐゴシック"/>
              </a:rPr>
              <a:t>String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&amp; </a:t>
            </a:r>
            <a:r>
              <a:rPr lang="en-US" sz="1600" kern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paramID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,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float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newValue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)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override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;</a:t>
            </a:r>
            <a:endParaRPr lang="en-US" sz="1600" kern="0" dirty="0"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    void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  <a:ea typeface="ＭＳ Ｐゴシック"/>
              </a:rPr>
              <a:t>updateInternalState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();</a:t>
            </a:r>
            <a:endParaRPr lang="en-US" sz="1600" kern="0" dirty="0"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endParaRPr lang="en-US" sz="1600" kern="0" dirty="0"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    float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latin typeface="Consolas" panose="020B0609020204030204" pitchFamily="49" charset="0"/>
                <a:ea typeface="ＭＳ Ｐゴシック"/>
              </a:rPr>
              <a:t>myActualParameter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;</a:t>
            </a:r>
            <a:endParaRPr lang="en-US" sz="1600" kern="0" dirty="0">
              <a:latin typeface="Consolas" panose="020B0609020204030204" pitchFamily="49" charset="0"/>
              <a:ea typeface="ＭＳ Ｐゴシック"/>
            </a:endParaRP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  <a:ea typeface="ＭＳ Ｐゴシック"/>
              </a:rPr>
              <a:t>    float</a:t>
            </a:r>
            <a:r>
              <a:rPr lang="en-US" sz="1600" kern="0" dirty="0">
                <a:latin typeface="Consolas" panose="020B0609020204030204" pitchFamily="49" charset="0"/>
                <a:ea typeface="ＭＳ Ｐゴシック"/>
              </a:rPr>
              <a:t> </a:t>
            </a:r>
            <a:r>
              <a:rPr lang="en-US" sz="1600" kern="0" dirty="0" err="1">
                <a:latin typeface="Consolas" panose="020B0609020204030204" pitchFamily="49" charset="0"/>
                <a:ea typeface="ＭＳ Ｐゴシック"/>
              </a:rPr>
              <a:t>otherStateVariable</a:t>
            </a: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;</a:t>
            </a:r>
          </a:p>
          <a:p>
            <a:pPr marL="0" indent="0" defTabSz="914400">
              <a:spcBef>
                <a:spcPts val="0"/>
              </a:spcBef>
              <a:buNone/>
              <a:defRPr/>
            </a:pPr>
            <a:r>
              <a:rPr lang="en-US" sz="1600" kern="0" dirty="0">
                <a:solidFill>
                  <a:prstClr val="black">
                    <a:lumMod val="50000"/>
                    <a:lumOff val="50000"/>
                  </a:prstClr>
                </a:solidFill>
                <a:latin typeface="Consolas" panose="020B0609020204030204" pitchFamily="49" charset="0"/>
                <a:ea typeface="ＭＳ Ｐゴシック"/>
              </a:rPr>
              <a:t>};</a:t>
            </a:r>
          </a:p>
        </p:txBody>
      </p:sp>
      <p:sp>
        <p:nvSpPr>
          <p:cNvPr id="14" name="Titolo 1"/>
          <p:cNvSpPr txBox="1">
            <a:spLocks/>
          </p:cNvSpPr>
          <p:nvPr/>
        </p:nvSpPr>
        <p:spPr bwMode="auto">
          <a:xfrm>
            <a:off x="2393950" y="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9pPr>
          </a:lstStyle>
          <a:p>
            <a:pPr defTabSz="914400">
              <a:defRPr/>
            </a:pPr>
            <a:r>
              <a:rPr lang="it-IT" kern="0" dirty="0">
                <a:latin typeface="Trebuchet MS"/>
                <a:ea typeface="ＭＳ Ｐゴシック"/>
              </a:rPr>
              <a:t>Una Classe Audio</a:t>
            </a:r>
          </a:p>
        </p:txBody>
      </p:sp>
      <p:sp>
        <p:nvSpPr>
          <p:cNvPr id="15" name="Segnaposto piè di pagina 3"/>
          <p:cNvSpPr txBox="1">
            <a:spLocks/>
          </p:cNvSpPr>
          <p:nvPr/>
        </p:nvSpPr>
        <p:spPr bwMode="auto">
          <a:xfrm>
            <a:off x="2590800" y="6289935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LIM: Laboratorio di Informatica Musicale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www.lim.di.unimi.it</a:t>
            </a:r>
            <a:endParaRPr lang="it-IT" altLang="it-IT" sz="1400" dirty="0">
              <a:solidFill>
                <a:srgbClr val="000000"/>
              </a:solidFill>
            </a:endParaRPr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60" y="6300577"/>
            <a:ext cx="534938" cy="534938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733860" y="2144431"/>
            <a:ext cx="8432490" cy="92333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6350" cap="rnd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5000" dist="25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it-IT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rPr>
              <a:t>Solo al cambio di un parametro si aggiorna </a:t>
            </a:r>
            <a:r>
              <a:rPr lang="it-IT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rPr>
              <a:t>myActualParameter</a:t>
            </a:r>
            <a:endParaRPr lang="it-IT" kern="0" dirty="0">
              <a:solidFill>
                <a:prstClr val="black">
                  <a:lumMod val="75000"/>
                  <a:lumOff val="25000"/>
                </a:prstClr>
              </a:solidFill>
              <a:latin typeface="Trebuchet MS" panose="020B0603020202020204" pitchFamily="34" charset="0"/>
              <a:ea typeface="ＭＳ Ｐゴシック" panose="020B0600070205080204" pitchFamily="34" charset="-128"/>
            </a:endParaRPr>
          </a:p>
          <a:p>
            <a:pPr defTabSz="914400">
              <a:defRPr/>
            </a:pPr>
            <a:r>
              <a:rPr lang="it-IT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rPr>
              <a:t>Se </a:t>
            </a:r>
            <a:r>
              <a:rPr lang="it-IT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otherStateVar</a:t>
            </a:r>
            <a:r>
              <a:rPr lang="it-IT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rPr>
              <a:t> dipende solo dai parametri la si aggiorna solo al bisogno</a:t>
            </a:r>
          </a:p>
          <a:p>
            <a:pPr defTabSz="914400">
              <a:defRPr/>
            </a:pPr>
            <a:r>
              <a:rPr lang="it-IT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rPr>
              <a:t>I parametri devono essere sempre in uno stato valido</a:t>
            </a:r>
          </a:p>
        </p:txBody>
      </p:sp>
    </p:spTree>
    <p:extLst>
      <p:ext uri="{BB962C8B-B14F-4D97-AF65-F5344CB8AC3E}">
        <p14:creationId xmlns:p14="http://schemas.microsoft.com/office/powerpoint/2010/main" val="8791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9" descr="C:\Users\Euronics PC\Progetti\Matlab\Lezione sint\FM_4.pn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2" t="15741" r="27719" b="19984"/>
          <a:stretch/>
        </p:blipFill>
        <p:spPr bwMode="auto">
          <a:xfrm>
            <a:off x="6936336" y="1980696"/>
            <a:ext cx="5255664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olo 1"/>
          <p:cNvSpPr txBox="1">
            <a:spLocks/>
          </p:cNvSpPr>
          <p:nvPr/>
        </p:nvSpPr>
        <p:spPr bwMode="auto">
          <a:xfrm>
            <a:off x="2393950" y="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itchFamily="-105" charset="0"/>
                <a:ea typeface="ＭＳ Ｐゴシック" pitchFamily="-105" charset="-128"/>
                <a:cs typeface="ＭＳ Ｐゴシック" pitchFamily="-105" charset="-128"/>
              </a:defRPr>
            </a:lvl9pPr>
          </a:lstStyle>
          <a:p>
            <a:pPr defTabSz="914400">
              <a:defRPr/>
            </a:pPr>
            <a:r>
              <a:rPr lang="it-IT" kern="0" dirty="0" err="1">
                <a:latin typeface="Trebuchet MS"/>
                <a:ea typeface="ＭＳ Ｐゴシック"/>
              </a:rPr>
              <a:t>DelayFx</a:t>
            </a:r>
            <a:r>
              <a:rPr lang="it-IT" kern="0" dirty="0">
                <a:latin typeface="Trebuchet MS"/>
                <a:ea typeface="ＭＳ Ｐゴシック"/>
              </a:rPr>
              <a:t>: </a:t>
            </a:r>
            <a:r>
              <a:rPr lang="it-IT" kern="0" dirty="0" err="1">
                <a:latin typeface="Trebuchet MS"/>
                <a:ea typeface="ＭＳ Ｐゴシック"/>
              </a:rPr>
              <a:t>which</a:t>
            </a:r>
            <a:r>
              <a:rPr lang="it-IT" kern="0" dirty="0">
                <a:latin typeface="Trebuchet MS"/>
                <a:ea typeface="ＭＳ Ｐゴシック"/>
              </a:rPr>
              <a:t> </a:t>
            </a:r>
            <a:r>
              <a:rPr lang="it-IT" kern="0" dirty="0" err="1">
                <a:latin typeface="Trebuchet MS"/>
                <a:ea typeface="ＭＳ Ｐゴシック"/>
              </a:rPr>
              <a:t>classes</a:t>
            </a:r>
            <a:r>
              <a:rPr lang="it-IT" kern="0" dirty="0">
                <a:latin typeface="Trebuchet MS"/>
                <a:ea typeface="ＭＳ Ｐゴシック"/>
              </a:rPr>
              <a:t>?</a:t>
            </a:r>
          </a:p>
        </p:txBody>
      </p:sp>
      <p:sp>
        <p:nvSpPr>
          <p:cNvPr id="15" name="Segnaposto piè di pagina 3"/>
          <p:cNvSpPr txBox="1">
            <a:spLocks/>
          </p:cNvSpPr>
          <p:nvPr/>
        </p:nvSpPr>
        <p:spPr bwMode="auto">
          <a:xfrm>
            <a:off x="2590800" y="6289935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LIM: Laboratorio di Informatica Musicale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dirty="0">
                <a:solidFill>
                  <a:srgbClr val="FFFFFF"/>
                </a:solidFill>
                <a:latin typeface="Trebuchet MS" panose="020B0603020202020204" pitchFamily="34" charset="0"/>
              </a:rPr>
              <a:t>www.lim.di.unimi.it</a:t>
            </a:r>
            <a:endParaRPr lang="it-IT" altLang="it-IT" sz="1400" dirty="0">
              <a:solidFill>
                <a:srgbClr val="000000"/>
              </a:solidFill>
            </a:endParaRPr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60" y="6300577"/>
            <a:ext cx="534938" cy="534938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145" y="1228243"/>
            <a:ext cx="6244010" cy="471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 smtClean="0"/>
              <a:t>Introduction</a:t>
            </a:r>
            <a:endParaRPr lang="it-IT" dirty="0"/>
          </a:p>
        </p:txBody>
      </p:sp>
      <p:sp>
        <p:nvSpPr>
          <p:cNvPr id="5" name="Sottotitolo 4"/>
          <p:cNvSpPr>
            <a:spLocks noGrp="1"/>
          </p:cNvSpPr>
          <p:nvPr>
            <p:ph type="subTitle" idx="1"/>
          </p:nvPr>
        </p:nvSpPr>
        <p:spPr>
          <a:xfrm>
            <a:off x="923364" y="1996658"/>
            <a:ext cx="5087969" cy="25255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smtClean="0"/>
              <a:t>Field </a:t>
            </a:r>
            <a:r>
              <a:rPr lang="it-IT" sz="2800" dirty="0" err="1" smtClean="0"/>
              <a:t>overview</a:t>
            </a:r>
            <a:endParaRPr lang="it-IT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smtClean="0"/>
              <a:t>Knowledge </a:t>
            </a:r>
            <a:r>
              <a:rPr lang="it-IT" sz="2800" dirty="0" err="1" smtClean="0"/>
              <a:t>representation</a:t>
            </a:r>
            <a:endParaRPr lang="it-IT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err="1" smtClean="0"/>
              <a:t>Models</a:t>
            </a:r>
            <a:r>
              <a:rPr lang="it-IT" sz="2800" dirty="0" smtClean="0"/>
              <a:t> and </a:t>
            </a:r>
            <a:r>
              <a:rPr lang="it-IT" sz="2800" dirty="0" err="1" smtClean="0"/>
              <a:t>systems</a:t>
            </a:r>
            <a:endParaRPr lang="it-IT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err="1" smtClean="0"/>
              <a:t>Creativity</a:t>
            </a:r>
            <a:endParaRPr lang="it-IT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smtClean="0"/>
              <a:t>Music and </a:t>
            </a:r>
            <a:r>
              <a:rPr lang="it-IT" sz="2800" dirty="0" err="1"/>
              <a:t>emotions</a:t>
            </a:r>
            <a:endParaRPr lang="it-IT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49141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emotional response to music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Brain </a:t>
            </a:r>
            <a:r>
              <a:rPr lang="it-IT" dirty="0" err="1"/>
              <a:t>stem</a:t>
            </a:r>
            <a:r>
              <a:rPr lang="it-IT" dirty="0"/>
              <a:t> reflex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Evaluative</a:t>
            </a:r>
            <a:r>
              <a:rPr lang="it-IT" dirty="0"/>
              <a:t> </a:t>
            </a:r>
            <a:r>
              <a:rPr lang="it-IT" dirty="0" err="1"/>
              <a:t>conditioning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Emotional</a:t>
            </a:r>
            <a:r>
              <a:rPr lang="it-IT" dirty="0"/>
              <a:t> </a:t>
            </a:r>
            <a:r>
              <a:rPr lang="it-IT" dirty="0" err="1"/>
              <a:t>contagion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Visual </a:t>
            </a:r>
            <a:r>
              <a:rPr lang="it-IT" dirty="0" err="1"/>
              <a:t>imagery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Episodic</a:t>
            </a:r>
            <a:r>
              <a:rPr lang="it-IT" dirty="0"/>
              <a:t> </a:t>
            </a:r>
            <a:r>
              <a:rPr lang="it-IT" dirty="0" err="1"/>
              <a:t>memory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b="1" dirty="0"/>
              <a:t>Musical </a:t>
            </a:r>
            <a:r>
              <a:rPr lang="it-IT" b="1" dirty="0" err="1"/>
              <a:t>expectancy</a:t>
            </a:r>
            <a:endParaRPr lang="it-IT" b="1" dirty="0"/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4294967295"/>
          </p:nvPr>
        </p:nvSpPr>
        <p:spPr>
          <a:xfrm>
            <a:off x="10458450" y="6356350"/>
            <a:ext cx="17335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9E35FD-D668-4B75-B19A-8368CAA0AF3D}" type="slidenum">
              <a:rPr kumimoji="0" lang="it-IT" sz="11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Quicksand" pitchFamily="2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Quicksand" pitchFamily="2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egnaposto contenuto 2"/>
          <p:cNvSpPr txBox="1">
            <a:spLocks/>
          </p:cNvSpPr>
          <p:nvPr/>
        </p:nvSpPr>
        <p:spPr bwMode="auto">
          <a:xfrm>
            <a:off x="2393950" y="4656938"/>
            <a:ext cx="7772400" cy="1799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24242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24242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424242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24242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17988" algn="r"/>
                <a:tab pos="4478338" algn="l"/>
              </a:tabLst>
              <a:defRPr/>
            </a:pP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Subjectivity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:	High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17988" algn="r"/>
                <a:tab pos="4478338" algn="l"/>
              </a:tabLst>
              <a:defRPr/>
            </a:pP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Possibility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 of self-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regulation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:	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Low</a:t>
            </a:r>
            <a:endParaRPr kumimoji="0" lang="it-IT" sz="2400" b="0" i="0" u="none" strike="noStrike" kern="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17988" algn="r"/>
                <a:tab pos="4478338" algn="l"/>
              </a:tabLst>
              <a:defRPr/>
            </a:pP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Structure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 </a:t>
            </a:r>
            <a:r>
              <a:rPr kumimoji="0" lang="it-IT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dependency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:	</a:t>
            </a:r>
            <a:r>
              <a:rPr kumimoji="0" lang="it-IT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High</a:t>
            </a:r>
            <a:endParaRPr kumimoji="0" lang="it-IT" sz="2400" b="0" i="0" u="none" strike="noStrike" kern="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217988" algn="r"/>
                <a:tab pos="4478338" algn="l"/>
              </a:tabLst>
              <a:defRPr/>
            </a:pP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Timbre </a:t>
            </a:r>
            <a:r>
              <a:rPr kumimoji="0" lang="it-IT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dependency</a:t>
            </a:r>
            <a:r>
              <a:rPr kumimoji="0" lang="it-IT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:</a:t>
            </a:r>
            <a:r>
              <a: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	</a:t>
            </a:r>
            <a:r>
              <a:rPr kumimoji="0" lang="it-IT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Low</a:t>
            </a:r>
            <a:endParaRPr kumimoji="0" lang="it-IT" sz="2400" b="0" i="0" u="none" strike="noStrike" kern="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3" t="8389" r="7186" b="13187"/>
          <a:stretch/>
        </p:blipFill>
        <p:spPr>
          <a:xfrm>
            <a:off x="6815138" y="2097157"/>
            <a:ext cx="4936045" cy="1479504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8354291" y="5106253"/>
            <a:ext cx="3399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Quicksand"/>
                <a:ea typeface="ＭＳ Ｐゴシック" panose="020B0600070205080204" pitchFamily="34" charset="-128"/>
                <a:cs typeface="+mn-cs"/>
              </a:rPr>
              <a:t>Creating and resolving tension according to (cultural dependent) music rules.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Quicksand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0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2001: Wikipedia</a:t>
            </a:r>
          </a:p>
          <a:p>
            <a:r>
              <a:rPr lang="it-IT" dirty="0" smtClean="0"/>
              <a:t>2003</a:t>
            </a:r>
            <a:r>
              <a:rPr lang="it-IT" dirty="0"/>
              <a:t>: Social Networks (</a:t>
            </a:r>
            <a:r>
              <a:rPr lang="it-IT" dirty="0" err="1"/>
              <a:t>MySpace</a:t>
            </a:r>
            <a:r>
              <a:rPr lang="it-IT" dirty="0" smtClean="0"/>
              <a:t>)</a:t>
            </a:r>
          </a:p>
          <a:p>
            <a:r>
              <a:rPr lang="it-IT" dirty="0" smtClean="0"/>
              <a:t>2005: Arduino </a:t>
            </a:r>
            <a:r>
              <a:rPr lang="it-IT" dirty="0" smtClean="0">
                <a:hlinkClick r:id="rId2"/>
              </a:rPr>
              <a:t>[TED Talk Massimo Banzi]</a:t>
            </a:r>
            <a:endParaRPr lang="it-IT" dirty="0" smtClean="0"/>
          </a:p>
          <a:p>
            <a:r>
              <a:rPr lang="it-IT" dirty="0" err="1" smtClean="0"/>
              <a:t>Makers</a:t>
            </a:r>
            <a:r>
              <a:rPr lang="it-IT" dirty="0" smtClean="0"/>
              <a:t>: Hardware Open Source and 3D </a:t>
            </a:r>
            <a:r>
              <a:rPr lang="it-IT" dirty="0" err="1" smtClean="0"/>
              <a:t>printers</a:t>
            </a:r>
            <a:endParaRPr lang="it-IT" dirty="0" smtClean="0"/>
          </a:p>
          <a:p>
            <a:pPr lvl="1"/>
            <a:r>
              <a:rPr lang="en-US" dirty="0"/>
              <a:t>Chris </a:t>
            </a:r>
            <a:r>
              <a:rPr lang="en-US" dirty="0" smtClean="0"/>
              <a:t>Anderson: “Atoms </a:t>
            </a:r>
            <a:r>
              <a:rPr lang="en-US" dirty="0"/>
              <a:t>are the new </a:t>
            </a:r>
            <a:r>
              <a:rPr lang="en-US" dirty="0" smtClean="0"/>
              <a:t>bits”</a:t>
            </a:r>
            <a:endParaRPr lang="it-IT" dirty="0" smtClean="0"/>
          </a:p>
          <a:p>
            <a:r>
              <a:rPr lang="it-IT" dirty="0" err="1" smtClean="0"/>
              <a:t>Smartphones</a:t>
            </a:r>
            <a:endParaRPr lang="it-IT" dirty="0" smtClean="0"/>
          </a:p>
          <a:p>
            <a:r>
              <a:rPr lang="it-IT" dirty="0" err="1" smtClean="0"/>
              <a:t>Accessible</a:t>
            </a:r>
            <a:r>
              <a:rPr lang="it-IT" dirty="0" smtClean="0"/>
              <a:t> VR &amp; AR</a:t>
            </a:r>
          </a:p>
          <a:p>
            <a:r>
              <a:rPr lang="it-IT" dirty="0" err="1" smtClean="0"/>
              <a:t>IoT</a:t>
            </a:r>
            <a:endParaRPr lang="it-IT" dirty="0" smtClean="0"/>
          </a:p>
          <a:p>
            <a:r>
              <a:rPr lang="it-IT" dirty="0" smtClean="0"/>
              <a:t>Big Data and AI </a:t>
            </a:r>
            <a:r>
              <a:rPr lang="it-IT" dirty="0" err="1" smtClean="0"/>
              <a:t>explosion</a:t>
            </a:r>
            <a:endParaRPr lang="it-IT" dirty="0" smtClean="0"/>
          </a:p>
          <a:p>
            <a:r>
              <a:rPr lang="it-IT" dirty="0" smtClean="0"/>
              <a:t>Post-</a:t>
            </a:r>
            <a:r>
              <a:rPr lang="it-IT" dirty="0" err="1" smtClean="0"/>
              <a:t>factual</a:t>
            </a:r>
            <a:r>
              <a:rPr lang="it-IT" dirty="0" smtClean="0"/>
              <a:t> society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smtClean="0"/>
              <a:t>2000…</a:t>
            </a:r>
            <a:endParaRPr lang="it-IT" dirty="0"/>
          </a:p>
        </p:txBody>
      </p:sp>
      <p:grpSp>
        <p:nvGrpSpPr>
          <p:cNvPr id="6" name="Gruppo 5"/>
          <p:cNvGrpSpPr/>
          <p:nvPr/>
        </p:nvGrpSpPr>
        <p:grpSpPr>
          <a:xfrm>
            <a:off x="6243723" y="2140526"/>
            <a:ext cx="4095577" cy="3282662"/>
            <a:chOff x="6243723" y="2140526"/>
            <a:chExt cx="4095577" cy="3282662"/>
          </a:xfrm>
        </p:grpSpPr>
        <p:sp>
          <p:nvSpPr>
            <p:cNvPr id="4" name="Freccia a destra 3"/>
            <p:cNvSpPr/>
            <p:nvPr/>
          </p:nvSpPr>
          <p:spPr>
            <a:xfrm rot="10800000">
              <a:off x="9510625" y="2140526"/>
              <a:ext cx="828675" cy="581025"/>
            </a:xfrm>
            <a:prstGeom prst="rightArrow">
              <a:avLst>
                <a:gd name="adj1" fmla="val 50000"/>
                <a:gd name="adj2" fmla="val 61475"/>
              </a:avLst>
            </a:prstGeom>
            <a:solidFill>
              <a:schemeClr val="accent5">
                <a:lumMod val="25000"/>
                <a:lumOff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E9E9E9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  <p:sp>
          <p:nvSpPr>
            <p:cNvPr id="5" name="Freccia a destra 4"/>
            <p:cNvSpPr/>
            <p:nvPr/>
          </p:nvSpPr>
          <p:spPr>
            <a:xfrm rot="10800000">
              <a:off x="6243723" y="4842163"/>
              <a:ext cx="828675" cy="581025"/>
            </a:xfrm>
            <a:prstGeom prst="rightArrow">
              <a:avLst>
                <a:gd name="adj1" fmla="val 50000"/>
                <a:gd name="adj2" fmla="val 61475"/>
              </a:avLst>
            </a:prstGeom>
            <a:solidFill>
              <a:schemeClr val="accent5">
                <a:lumMod val="25000"/>
                <a:lumOff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E9E9E9"/>
                </a:solidFill>
                <a:effectLst/>
                <a:uLnTx/>
                <a:uFillTx/>
                <a:latin typeface="Quicksand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591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Tema di Office">
  <a:themeElements>
    <a:clrScheme name="UnimiDark">
      <a:dk1>
        <a:srgbClr val="292929"/>
      </a:dk1>
      <a:lt1>
        <a:srgbClr val="E9E9E9"/>
      </a:lt1>
      <a:dk2>
        <a:srgbClr val="5E5E5E"/>
      </a:dk2>
      <a:lt2>
        <a:srgbClr val="E9E9E9"/>
      </a:lt2>
      <a:accent1>
        <a:srgbClr val="071B50"/>
      </a:accent1>
      <a:accent2>
        <a:srgbClr val="510707"/>
      </a:accent2>
      <a:accent3>
        <a:srgbClr val="075117"/>
      </a:accent3>
      <a:accent4>
        <a:srgbClr val="292929"/>
      </a:accent4>
      <a:accent5>
        <a:srgbClr val="4D5107"/>
      </a:accent5>
      <a:accent6>
        <a:srgbClr val="4A0751"/>
      </a:accent6>
      <a:hlink>
        <a:srgbClr val="0F3BB1"/>
      </a:hlink>
      <a:folHlink>
        <a:srgbClr val="0F3BB1"/>
      </a:folHlink>
    </a:clrScheme>
    <a:fontScheme name="Uni+Acca">
      <a:majorFont>
        <a:latin typeface="Trebuchet MS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58F1676F-047B-41DA-B02E-BD50BFCF9346}"/>
    </a:ext>
  </a:extLst>
</a:theme>
</file>

<file path=ppt/theme/theme3.xml><?xml version="1.0" encoding="utf-8"?>
<a:theme xmlns:a="http://schemas.openxmlformats.org/drawingml/2006/main" name="6_Tema di Office">
  <a:themeElements>
    <a:clrScheme name="UnimiDark">
      <a:dk1>
        <a:srgbClr val="292929"/>
      </a:dk1>
      <a:lt1>
        <a:srgbClr val="E9E9E9"/>
      </a:lt1>
      <a:dk2>
        <a:srgbClr val="5E5E5E"/>
      </a:dk2>
      <a:lt2>
        <a:srgbClr val="E9E9E9"/>
      </a:lt2>
      <a:accent1>
        <a:srgbClr val="071B50"/>
      </a:accent1>
      <a:accent2>
        <a:srgbClr val="510707"/>
      </a:accent2>
      <a:accent3>
        <a:srgbClr val="075117"/>
      </a:accent3>
      <a:accent4>
        <a:srgbClr val="292929"/>
      </a:accent4>
      <a:accent5>
        <a:srgbClr val="4D5107"/>
      </a:accent5>
      <a:accent6>
        <a:srgbClr val="4A0751"/>
      </a:accent6>
      <a:hlink>
        <a:srgbClr val="0F3BB1"/>
      </a:hlink>
      <a:folHlink>
        <a:srgbClr val="0F3BB1"/>
      </a:folHlink>
    </a:clrScheme>
    <a:fontScheme name="Uni+Acca">
      <a:majorFont>
        <a:latin typeface="Trebuchet MS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5" charset="0"/>
            <a:ea typeface="ＭＳ Ｐゴシック" pitchFamily="-105" charset="-128"/>
            <a:cs typeface="ＭＳ Ｐゴシック" pitchFamily="-10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5" charset="0"/>
            <a:ea typeface="ＭＳ Ｐゴシック" pitchFamily="-105" charset="-128"/>
            <a:cs typeface="ＭＳ Ｐゴシック" pitchFamily="-105" charset="-128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iorgio Presti.pptx" id="{180868F7-CE58-4E2E-BC3E-7C94BAD82D83}" vid="{64E218A7-84F3-4F17-AA58-79B0BF411A8C}"/>
    </a:ext>
  </a:extLst>
</a:theme>
</file>

<file path=ppt/theme/theme4.xml><?xml version="1.0" encoding="utf-8"?>
<a:theme xmlns:a="http://schemas.openxmlformats.org/drawingml/2006/main" name="3">
  <a:themeElements>
    <a:clrScheme name="UnimiDark">
      <a:dk1>
        <a:srgbClr val="292929"/>
      </a:dk1>
      <a:lt1>
        <a:srgbClr val="E9E9E9"/>
      </a:lt1>
      <a:dk2>
        <a:srgbClr val="5E5E5E"/>
      </a:dk2>
      <a:lt2>
        <a:srgbClr val="E9E9E9"/>
      </a:lt2>
      <a:accent1>
        <a:srgbClr val="071B50"/>
      </a:accent1>
      <a:accent2>
        <a:srgbClr val="510707"/>
      </a:accent2>
      <a:accent3>
        <a:srgbClr val="075117"/>
      </a:accent3>
      <a:accent4>
        <a:srgbClr val="292929"/>
      </a:accent4>
      <a:accent5>
        <a:srgbClr val="4D5107"/>
      </a:accent5>
      <a:accent6>
        <a:srgbClr val="4A0751"/>
      </a:accent6>
      <a:hlink>
        <a:srgbClr val="0F3BB1"/>
      </a:hlink>
      <a:folHlink>
        <a:srgbClr val="0F3BB1"/>
      </a:folHlink>
    </a:clrScheme>
    <a:fontScheme name="Uni+Acca">
      <a:majorFont>
        <a:latin typeface="Trebuchet MS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BC67150E-BE2D-4049-89FA-B23F37DD5465}"/>
    </a:ext>
  </a:extLst>
</a:theme>
</file>

<file path=ppt/theme/theme5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58F1676F-047B-41DA-B02E-BD50BFCF9346}"/>
    </a:ext>
  </a:extLst>
</a:theme>
</file>

<file path=ppt/theme/theme6.xml><?xml version="1.0" encoding="utf-8"?>
<a:theme xmlns:a="http://schemas.openxmlformats.org/drawingml/2006/main" name="5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58F1676F-047B-41DA-B02E-BD50BFCF9346}"/>
    </a:ext>
  </a:extLst>
</a:theme>
</file>

<file path=ppt/theme/theme7.xml><?xml version="1.0" encoding="utf-8"?>
<a:theme xmlns:a="http://schemas.openxmlformats.org/drawingml/2006/main" name="7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58F1676F-047B-41DA-B02E-BD50BFCF9346}"/>
    </a:ext>
  </a:extLst>
</a:theme>
</file>

<file path=ppt/theme/theme8.xml><?xml version="1.0" encoding="utf-8"?>
<a:theme xmlns:a="http://schemas.openxmlformats.org/drawingml/2006/main" name="8_Tema di Office">
  <a:themeElements>
    <a:clrScheme name="UnimiDark">
      <a:dk1>
        <a:srgbClr val="292929"/>
      </a:dk1>
      <a:lt1>
        <a:srgbClr val="E9E9E9"/>
      </a:lt1>
      <a:dk2>
        <a:srgbClr val="5E5E5E"/>
      </a:dk2>
      <a:lt2>
        <a:srgbClr val="E9E9E9"/>
      </a:lt2>
      <a:accent1>
        <a:srgbClr val="071B50"/>
      </a:accent1>
      <a:accent2>
        <a:srgbClr val="510707"/>
      </a:accent2>
      <a:accent3>
        <a:srgbClr val="075117"/>
      </a:accent3>
      <a:accent4>
        <a:srgbClr val="292929"/>
      </a:accent4>
      <a:accent5>
        <a:srgbClr val="4D5107"/>
      </a:accent5>
      <a:accent6>
        <a:srgbClr val="4A0751"/>
      </a:accent6>
      <a:hlink>
        <a:srgbClr val="0F3BB1"/>
      </a:hlink>
      <a:folHlink>
        <a:srgbClr val="0F3BB1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iorgio Presti.pptx" id="{180868F7-CE58-4E2E-BC3E-7C94BAD82D83}" vid="{58F1676F-047B-41DA-B02E-BD50BFCF9346}"/>
    </a:ext>
  </a:extLst>
</a:theme>
</file>

<file path=ppt/theme/theme9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2002</Words>
  <Application>Microsoft Office PowerPoint</Application>
  <PresentationFormat>Widescreen</PresentationFormat>
  <Paragraphs>386</Paragraphs>
  <Slides>37</Slides>
  <Notes>2</Notes>
  <HiddenSlides>28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8</vt:i4>
      </vt:variant>
      <vt:variant>
        <vt:lpstr>Titoli diapositive</vt:lpstr>
      </vt:variant>
      <vt:variant>
        <vt:i4>37</vt:i4>
      </vt:variant>
    </vt:vector>
  </HeadingPairs>
  <TitlesOfParts>
    <vt:vector size="53" baseType="lpstr">
      <vt:lpstr>ＭＳ Ｐゴシック</vt:lpstr>
      <vt:lpstr>Arial</vt:lpstr>
      <vt:lpstr>Calibri</vt:lpstr>
      <vt:lpstr>Consolas</vt:lpstr>
      <vt:lpstr>DejaVu Sans</vt:lpstr>
      <vt:lpstr>Quicksand</vt:lpstr>
      <vt:lpstr>Times New Roman</vt:lpstr>
      <vt:lpstr>Trebuchet MS</vt:lpstr>
      <vt:lpstr>Office Theme</vt:lpstr>
      <vt:lpstr>3_Tema di Office</vt:lpstr>
      <vt:lpstr>6_Tema di Office</vt:lpstr>
      <vt:lpstr>3</vt:lpstr>
      <vt:lpstr>4_Tema di Office</vt:lpstr>
      <vt:lpstr>5_Tema di Office</vt:lpstr>
      <vt:lpstr>7_Tema di Office</vt:lpstr>
      <vt:lpstr>8_Tema di Office</vt:lpstr>
      <vt:lpstr>Giorgio Presti Researcher @ LIM</vt:lpstr>
      <vt:lpstr>Aspetti generali del file system (1/2)</vt:lpstr>
      <vt:lpstr>Aspetti generali del file system (2/2)</vt:lpstr>
      <vt:lpstr>Equivalenze tra APT e DNF</vt:lpstr>
      <vt:lpstr>Variabili (2/2): ambiente ed export</vt:lpstr>
      <vt:lpstr>Materiale</vt:lpstr>
      <vt:lpstr>Calendario delle lezioni</vt:lpstr>
      <vt:lpstr>Struttura client/server </vt:lpstr>
      <vt:lpstr>Diffusione dei sistemi operativi desktop</vt:lpstr>
      <vt:lpstr>Windows 95</vt:lpstr>
      <vt:lpstr>Impariamo un paio di parole prima di continuare</vt:lpstr>
      <vt:lpstr>Che distro scegliere</vt:lpstr>
      <vt:lpstr>Il prompt della Shell BASH</vt:lpstr>
      <vt:lpstr>Comandi da provare</vt:lpstr>
      <vt:lpstr>Il file system Ext (e la filosofia UNIX)</vt:lpstr>
      <vt:lpstr>Manipolazione di file (2/2)</vt:lpstr>
      <vt:lpstr>Modifica dei privilegi (esempi)</vt:lpstr>
      <vt:lpstr>Modifica dei privilegi (shortcut)</vt:lpstr>
      <vt:lpstr>Redirezione su file (1/2)</vt:lpstr>
      <vt:lpstr>LINUX scripts</vt:lpstr>
      <vt:lpstr>Android – Architettura (1/3)</vt:lpstr>
      <vt:lpstr>Presentazione standard di PowerPoint</vt:lpstr>
      <vt:lpstr>Machine Learning VS Traditional Programming</vt:lpstr>
      <vt:lpstr>Models and systems</vt:lpstr>
      <vt:lpstr>The creative process</vt:lpstr>
      <vt:lpstr>The emotional response to music</vt:lpstr>
      <vt:lpstr>1952: Pennelli elettronici</vt:lpstr>
      <vt:lpstr>Long Short-Term Memory Layers (LSTM)</vt:lpstr>
      <vt:lpstr>Artificial Neural Networks: where is creativity?</vt:lpstr>
      <vt:lpstr>AI and the Law</vt:lpstr>
      <vt:lpstr>Comandi di base (2/3): app</vt:lpstr>
      <vt:lpstr>Presentazione standard di PowerPoint</vt:lpstr>
      <vt:lpstr>Presentazione standard di PowerPoint</vt:lpstr>
      <vt:lpstr>Presentazione standard di PowerPoint</vt:lpstr>
      <vt:lpstr>Introduction</vt:lpstr>
      <vt:lpstr>The emotional response to music</vt:lpstr>
      <vt:lpstr>Since 2000…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dai metadati</dc:title>
  <dc:subject/>
  <dc:creator>Giorgio</dc:creator>
  <cp:keywords/>
  <dc:description>generated using python-pptx</dc:description>
  <cp:lastModifiedBy>Giorgio Presti</cp:lastModifiedBy>
  <cp:revision>7</cp:revision>
  <dcterms:created xsi:type="dcterms:W3CDTF">2013-01-27T09:14:16Z</dcterms:created>
  <dcterms:modified xsi:type="dcterms:W3CDTF">2026-10-30T14:21:48Z</dcterms:modified>
  <cp:category/>
</cp:coreProperties>
</file>